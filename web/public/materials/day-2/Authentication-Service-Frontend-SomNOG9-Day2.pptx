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" charset="1" panose="020B0604020202020204"/>
      <p:regular r:id="rId20"/>
    </p:embeddedFont>
    <p:embeddedFont>
      <p:font typeface="Lato" charset="1" panose="020F0502020204030203"/>
      <p:regular r:id="rId21"/>
    </p:embeddedFont>
    <p:embeddedFont>
      <p:font typeface="Lato Bold" charset="1" panose="020F0502020204030203"/>
      <p:regular r:id="rId22"/>
    </p:embeddedFont>
    <p:embeddedFont>
      <p:font typeface="Raleway Medium" charset="1" panose="00000000000000000000"/>
      <p:regular r:id="rId23"/>
    </p:embeddedFont>
    <p:embeddedFont>
      <p:font typeface="Arial MT Pro" charset="1" panose="020B0502020202020204"/>
      <p:regular r:id="rId24"/>
    </p:embeddedFont>
    <p:embeddedFont>
      <p:font typeface="Poppins" charset="1" panose="00000500000000000000"/>
      <p:regular r:id="rId25"/>
    </p:embeddedFont>
    <p:embeddedFont>
      <p:font typeface="Inter 1" charset="1" panose="020B0502030000000004"/>
      <p:regular r:id="rId26"/>
    </p:embeddedFont>
    <p:embeddedFont>
      <p:font typeface="Inter 2" charset="1" panose="02000503000000020004"/>
      <p:regular r:id="rId27"/>
    </p:embeddedFont>
    <p:embeddedFont>
      <p:font typeface="Open Sans" charset="1" panose="00000000000000000000"/>
      <p:regular r:id="rId28"/>
    </p:embeddedFont>
    <p:embeddedFont>
      <p:font typeface="Gotham Bold" charset="1" panose="00000000000000000000"/>
      <p:regular r:id="rId29"/>
    </p:embeddedFont>
    <p:embeddedFont>
      <p:font typeface="Gotham" charset="1" panose="00000000000000000000"/>
      <p:regular r:id="rId30"/>
    </p:embeddedFont>
    <p:embeddedFont>
      <p:font typeface="DM Sans" charset="1" panose="00000000000000000000"/>
      <p:regular r:id="rId31"/>
    </p:embeddedFont>
    <p:embeddedFont>
      <p:font typeface="Poppins Bold" charset="1" panose="00000800000000000000"/>
      <p:regular r:id="rId32"/>
    </p:embeddedFont>
    <p:embeddedFont>
      <p:font typeface="Raleway Bold" charset="1" panose="00000000000000000000"/>
      <p:regular r:id="rId33"/>
    </p:embeddedFont>
    <p:embeddedFont>
      <p:font typeface="Arimo Bold" charset="1" panose="020B0704020202020204"/>
      <p:regular r:id="rId34"/>
    </p:embeddedFont>
    <p:embeddedFont>
      <p:font typeface="Open Sans Bold" charset="1" panose="00000000000000000000"/>
      <p:regular r:id="rId35"/>
    </p:embeddedFont>
    <p:embeddedFont>
      <p:font typeface="Open Sauce Bold" charset="1" panose="00000800000000000000"/>
      <p:regular r:id="rId36"/>
    </p:embeddedFont>
    <p:embeddedFont>
      <p:font typeface="Roboto" charset="1" panose="02000000000000000000"/>
      <p:regular r:id="rId37"/>
    </p:embeddedFont>
    <p:embeddedFont>
      <p:font typeface="Roboto Bold" charset="1" panose="02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9525" cy="10287000"/>
            <a:chOff x="0" y="0"/>
            <a:chExt cx="127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9875" y="0"/>
            <a:ext cx="9525" cy="10287000"/>
            <a:chOff x="0" y="0"/>
            <a:chExt cx="127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9875" y="3562350"/>
            <a:ext cx="7858125" cy="9525"/>
            <a:chOff x="0" y="0"/>
            <a:chExt cx="10477500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77500" cy="12700"/>
            </a:xfrm>
            <a:custGeom>
              <a:avLst/>
              <a:gdLst/>
              <a:ahLst/>
              <a:cxnLst/>
              <a:rect r="r" b="b" t="t" l="l"/>
              <a:pathLst>
                <a:path h="12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775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29875" y="6715125"/>
            <a:ext cx="7858125" cy="9525"/>
            <a:chOff x="0" y="0"/>
            <a:chExt cx="10477500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77500" cy="12700"/>
            </a:xfrm>
            <a:custGeom>
              <a:avLst/>
              <a:gdLst/>
              <a:ahLst/>
              <a:cxnLst/>
              <a:rect r="r" b="b" t="t" l="l"/>
              <a:pathLst>
                <a:path h="12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775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0575" y="3276600"/>
            <a:ext cx="485775" cy="9525"/>
            <a:chOff x="0" y="0"/>
            <a:chExt cx="6477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0575" y="3562350"/>
            <a:ext cx="485775" cy="9525"/>
            <a:chOff x="0" y="0"/>
            <a:chExt cx="6477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0575" y="3857625"/>
            <a:ext cx="485775" cy="9525"/>
            <a:chOff x="0" y="0"/>
            <a:chExt cx="6477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91750" y="8667750"/>
            <a:ext cx="485775" cy="9525"/>
            <a:chOff x="0" y="0"/>
            <a:chExt cx="647700" cy="12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91750" y="8963025"/>
            <a:ext cx="485775" cy="9525"/>
            <a:chOff x="0" y="0"/>
            <a:chExt cx="6477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91750" y="9248775"/>
            <a:ext cx="485775" cy="9525"/>
            <a:chOff x="0" y="0"/>
            <a:chExt cx="64770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875568" y="6720078"/>
            <a:ext cx="7715250" cy="3566922"/>
          </a:xfrm>
          <a:custGeom>
            <a:avLst/>
            <a:gdLst/>
            <a:ahLst/>
            <a:cxnLst/>
            <a:rect r="r" b="b" t="t" l="l"/>
            <a:pathLst>
              <a:path h="3566922" w="7715250">
                <a:moveTo>
                  <a:pt x="0" y="0"/>
                </a:moveTo>
                <a:lnTo>
                  <a:pt x="7715250" y="0"/>
                </a:lnTo>
                <a:lnTo>
                  <a:pt x="7715250" y="3566922"/>
                </a:lnTo>
                <a:lnTo>
                  <a:pt x="0" y="356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-732" r="0" b="-732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875568" y="2028825"/>
            <a:ext cx="7715250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AUTH CONTEXT, PROTECTED ROUTES AND ROLES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49386" y="8667750"/>
            <a:ext cx="47625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E9E9EA"/>
                </a:solidFill>
                <a:latin typeface="Arimo"/>
                <a:ea typeface="Arimo"/>
                <a:cs typeface="Arimo"/>
                <a:sym typeface="Arimo"/>
              </a:rPr>
              <a:t> DAY 2  -  SUNDAY 20 SEPTEMBER 2026  -  09:00 - 10:00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2246" y="3277851"/>
            <a:ext cx="48243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92246" y="3568706"/>
            <a:ext cx="48243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33463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92246" y="3859561"/>
            <a:ext cx="482433" cy="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70850" y="4114800"/>
            <a:ext cx="3845922" cy="5143500"/>
            <a:chOff x="0" y="0"/>
            <a:chExt cx="1012918" cy="1354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918" cy="1354667"/>
            </a:xfrm>
            <a:custGeom>
              <a:avLst/>
              <a:gdLst/>
              <a:ahLst/>
              <a:cxnLst/>
              <a:rect r="r" b="b" t="t" l="l"/>
              <a:pathLst>
                <a:path h="1354667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CA2D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2918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9562694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721534" y="4114800"/>
            <a:ext cx="0" cy="617220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3405648" y="4114800"/>
            <a:ext cx="0" cy="617220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716772" y="4114800"/>
            <a:ext cx="3845922" cy="5143500"/>
            <a:chOff x="0" y="0"/>
            <a:chExt cx="1012918" cy="1354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2918" cy="1354667"/>
            </a:xfrm>
            <a:custGeom>
              <a:avLst/>
              <a:gdLst/>
              <a:ahLst/>
              <a:cxnLst/>
              <a:rect r="r" b="b" t="t" l="l"/>
              <a:pathLst>
                <a:path h="1354667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B34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2918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62694" y="4114800"/>
            <a:ext cx="3845922" cy="5143500"/>
            <a:chOff x="0" y="0"/>
            <a:chExt cx="1012918" cy="13546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2918" cy="1354667"/>
            </a:xfrm>
            <a:custGeom>
              <a:avLst/>
              <a:gdLst/>
              <a:ahLst/>
              <a:cxnLst/>
              <a:rect r="r" b="b" t="t" l="l"/>
              <a:pathLst>
                <a:path h="1354667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36A6D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2918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08616" y="4114800"/>
            <a:ext cx="3845922" cy="5143500"/>
            <a:chOff x="0" y="0"/>
            <a:chExt cx="1012918" cy="1354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2918" cy="1354667"/>
            </a:xfrm>
            <a:custGeom>
              <a:avLst/>
              <a:gdLst/>
              <a:ahLst/>
              <a:cxnLst/>
              <a:rect r="r" b="b" t="t" l="l"/>
              <a:pathLst>
                <a:path h="1354667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B346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2918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70850" y="4114800"/>
            <a:ext cx="3845922" cy="5143500"/>
            <a:chOff x="0" y="0"/>
            <a:chExt cx="5127896" cy="6858000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2">
              <a:alphaModFix amt="5000"/>
            </a:blip>
            <a:srcRect l="25032" t="0" r="25032" b="0"/>
            <a:stretch>
              <a:fillRect/>
            </a:stretch>
          </p:blipFill>
          <p:spPr>
            <a:xfrm flipH="false" flipV="false">
              <a:off x="0" y="0"/>
              <a:ext cx="5127896" cy="6858000"/>
            </a:xfrm>
            <a:prstGeom prst="rect">
              <a:avLst/>
            </a:prstGeom>
          </p:spPr>
        </p:pic>
      </p:grpSp>
      <p:grpSp>
        <p:nvGrpSpPr>
          <p:cNvPr name="Group 23" id="23"/>
          <p:cNvGrpSpPr/>
          <p:nvPr/>
        </p:nvGrpSpPr>
        <p:grpSpPr>
          <a:xfrm rot="0">
            <a:off x="9557931" y="4114800"/>
            <a:ext cx="3850684" cy="5143500"/>
            <a:chOff x="0" y="0"/>
            <a:chExt cx="5134246" cy="6858000"/>
          </a:xfrm>
        </p:grpSpPr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3">
              <a:alphaModFix amt="5000"/>
            </a:blip>
            <a:srcRect l="0" t="5475" r="0" b="5475"/>
            <a:stretch>
              <a:fillRect/>
            </a:stretch>
          </p:blipFill>
          <p:spPr>
            <a:xfrm flipH="false" flipV="false">
              <a:off x="0" y="0"/>
              <a:ext cx="5134246" cy="6858000"/>
            </a:xfrm>
            <a:prstGeom prst="rect">
              <a:avLst/>
            </a:prstGeom>
          </p:spPr>
        </p:pic>
      </p:grpSp>
      <p:grpSp>
        <p:nvGrpSpPr>
          <p:cNvPr name="Group 25" id="25"/>
          <p:cNvGrpSpPr/>
          <p:nvPr/>
        </p:nvGrpSpPr>
        <p:grpSpPr>
          <a:xfrm rot="0">
            <a:off x="5716772" y="4114800"/>
            <a:ext cx="3845922" cy="5143500"/>
            <a:chOff x="0" y="0"/>
            <a:chExt cx="5127896" cy="6858000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4">
              <a:alphaModFix amt="5000"/>
            </a:blip>
            <a:srcRect l="25574" t="0" r="25574" b="0"/>
            <a:stretch>
              <a:fillRect/>
            </a:stretch>
          </p:blipFill>
          <p:spPr>
            <a:xfrm flipH="false" flipV="false">
              <a:off x="0" y="0"/>
              <a:ext cx="5127896" cy="6858000"/>
            </a:xfrm>
            <a:prstGeom prst="rect">
              <a:avLst/>
            </a:prstGeom>
          </p:spPr>
        </p:pic>
      </p:grpSp>
      <p:grpSp>
        <p:nvGrpSpPr>
          <p:cNvPr name="Group 27" id="27"/>
          <p:cNvGrpSpPr/>
          <p:nvPr/>
        </p:nvGrpSpPr>
        <p:grpSpPr>
          <a:xfrm rot="0">
            <a:off x="13408616" y="4114800"/>
            <a:ext cx="3845922" cy="5143500"/>
            <a:chOff x="0" y="0"/>
            <a:chExt cx="5127896" cy="6858000"/>
          </a:xfrm>
        </p:grpSpPr>
        <p:pic>
          <p:nvPicPr>
            <p:cNvPr name="Picture 28" id="28"/>
            <p:cNvPicPr>
              <a:picLocks noChangeAspect="true"/>
            </p:cNvPicPr>
            <p:nvPr/>
          </p:nvPicPr>
          <p:blipFill>
            <a:blip r:embed="rId5">
              <a:alphaModFix amt="5000"/>
            </a:blip>
            <a:srcRect l="25075" t="0" r="25075" b="0"/>
            <a:stretch>
              <a:fillRect/>
            </a:stretch>
          </p:blipFill>
          <p:spPr>
            <a:xfrm flipH="false" flipV="false">
              <a:off x="0" y="0"/>
              <a:ext cx="5127896" cy="6858000"/>
            </a:xfrm>
            <a:prstGeom prst="rect">
              <a:avLst/>
            </a:prstGeom>
          </p:spPr>
        </p:pic>
      </p:grpSp>
      <p:sp>
        <p:nvSpPr>
          <p:cNvPr name="TextBox 29" id="29"/>
          <p:cNvSpPr txBox="true"/>
          <p:nvPr/>
        </p:nvSpPr>
        <p:spPr>
          <a:xfrm rot="0">
            <a:off x="2373880" y="7152253"/>
            <a:ext cx="283986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3460"/>
                </a:solidFill>
                <a:latin typeface="Lato"/>
                <a:ea typeface="Lato"/>
                <a:cs typeface="Lato"/>
                <a:sym typeface="Lato"/>
              </a:rPr>
              <a:t>The desk. Somebody asks your name, finds you in the list, gives you a badge.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19802" y="7152253"/>
            <a:ext cx="283330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The door. Your badge says participant, so the organisers’ room stays closed.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73880" y="6263036"/>
            <a:ext cx="284759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2B3460"/>
                </a:solidFill>
                <a:latin typeface="Lato Bold"/>
                <a:ea typeface="Lato Bold"/>
                <a:cs typeface="Lato Bold"/>
                <a:sym typeface="Lato Bold"/>
              </a:rPr>
              <a:t>A</a:t>
            </a:r>
            <a:r>
              <a:rPr lang="en-US" b="true" sz="1999">
                <a:solidFill>
                  <a:srgbClr val="2B3460"/>
                </a:solidFill>
                <a:latin typeface="Lato Bold"/>
                <a:ea typeface="Lato Bold"/>
                <a:cs typeface="Lato Bold"/>
                <a:sym typeface="Lato Bold"/>
              </a:rPr>
              <a:t>UTHENTICATION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19802" y="6263036"/>
            <a:ext cx="28428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AUTHORIZATION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5724" y="7152253"/>
            <a:ext cx="305873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B3460"/>
                </a:solidFill>
                <a:latin typeface="Lato"/>
                <a:ea typeface="Lato"/>
                <a:cs typeface="Lato"/>
                <a:sym typeface="Lato"/>
              </a:rPr>
              <a:t>The badge. You showed your ID once. After that you only show the badge.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65724" y="6263036"/>
            <a:ext cx="25364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2B3460"/>
                </a:solidFill>
                <a:latin typeface="Lato Bold"/>
                <a:ea typeface="Lato Bold"/>
                <a:cs typeface="Lato Bold"/>
                <a:sym typeface="Lato Bold"/>
              </a:rPr>
              <a:t>TOKEN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11646" y="7152253"/>
            <a:ext cx="314628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hat is printed on the badge: admin, facilitator or participant.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11646" y="6263036"/>
            <a:ext cx="283986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R</a:t>
            </a:r>
            <a:r>
              <a:rPr lang="en-US" b="true" sz="1999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OLE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70850" y="1414912"/>
            <a:ext cx="749029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DESK AND THE DOOR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65724" y="1987091"/>
            <a:ext cx="805317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8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he desk asks who you are. The door asks what you can do.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638650" y="-362350"/>
            <a:ext cx="10287000" cy="11011699"/>
            <a:chOff x="0" y="0"/>
            <a:chExt cx="660400" cy="7069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706924"/>
            </a:xfrm>
            <a:custGeom>
              <a:avLst/>
              <a:gdLst/>
              <a:ahLst/>
              <a:cxnLst/>
              <a:rect r="r" b="b" t="t" l="l"/>
              <a:pathLst>
                <a:path h="706924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150"/>
                  </a:cubicBezTo>
                  <a:lnTo>
                    <a:pt x="660400" y="706924"/>
                  </a:lnTo>
                  <a:lnTo>
                    <a:pt x="0" y="706924"/>
                  </a:lnTo>
                  <a:lnTo>
                    <a:pt x="0" y="326433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618024"/>
            </a:xfrm>
            <a:prstGeom prst="rect">
              <a:avLst/>
            </a:prstGeom>
          </p:spPr>
          <p:txBody>
            <a:bodyPr anchor="ctr" rtlCol="false" tIns="1091778" lIns="1091778" bIns="1091778" rIns="10917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52516" y="2006081"/>
            <a:ext cx="642599" cy="642599"/>
          </a:xfrm>
          <a:custGeom>
            <a:avLst/>
            <a:gdLst/>
            <a:ahLst/>
            <a:cxnLst/>
            <a:rect r="r" b="b" t="t" l="l"/>
            <a:pathLst>
              <a:path h="642599" w="642599">
                <a:moveTo>
                  <a:pt x="0" y="0"/>
                </a:moveTo>
                <a:lnTo>
                  <a:pt x="642599" y="0"/>
                </a:lnTo>
                <a:lnTo>
                  <a:pt x="642599" y="642599"/>
                </a:lnTo>
                <a:lnTo>
                  <a:pt x="0" y="642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2516" y="6055067"/>
            <a:ext cx="642599" cy="428789"/>
          </a:xfrm>
          <a:custGeom>
            <a:avLst/>
            <a:gdLst/>
            <a:ahLst/>
            <a:cxnLst/>
            <a:rect r="r" b="b" t="t" l="l"/>
            <a:pathLst>
              <a:path h="428789" w="642599">
                <a:moveTo>
                  <a:pt x="0" y="0"/>
                </a:moveTo>
                <a:lnTo>
                  <a:pt x="642599" y="0"/>
                </a:lnTo>
                <a:lnTo>
                  <a:pt x="642599" y="428789"/>
                </a:lnTo>
                <a:lnTo>
                  <a:pt x="0" y="428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0948" y="3756834"/>
            <a:ext cx="5552549" cy="199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2"/>
              </a:lnSpc>
            </a:pPr>
            <a:r>
              <a:rPr lang="en-US" sz="7091" spc="-347">
                <a:solidFill>
                  <a:srgbClr val="EFEFEF"/>
                </a:solidFill>
                <a:latin typeface="Arial MT Pro"/>
                <a:ea typeface="Arial MT Pro"/>
                <a:cs typeface="Arial MT Pro"/>
                <a:sym typeface="Arial MT Pro"/>
              </a:rPr>
              <a:t>AT TEN O’CLOCK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79300" y="3766359"/>
            <a:ext cx="544808" cy="545509"/>
          </a:xfrm>
          <a:custGeom>
            <a:avLst/>
            <a:gdLst/>
            <a:ahLst/>
            <a:cxnLst/>
            <a:rect r="r" b="b" t="t" l="l"/>
            <a:pathLst>
              <a:path h="545509" w="544808">
                <a:moveTo>
                  <a:pt x="0" y="0"/>
                </a:moveTo>
                <a:lnTo>
                  <a:pt x="544808" y="0"/>
                </a:lnTo>
                <a:lnTo>
                  <a:pt x="544808" y="545510"/>
                </a:lnTo>
                <a:lnTo>
                  <a:pt x="0" y="545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3403" t="0" r="0" b="-6319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52516" y="2854890"/>
            <a:ext cx="6589387" cy="242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One - an app that remembers you.</a:t>
            </a:r>
          </a:p>
          <a:p>
            <a:pPr algn="l">
              <a:lnSpc>
                <a:spcPts val="3188"/>
              </a:lnSpc>
            </a:pPr>
            <a:r>
              <a:rPr lang="en-US" sz="22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Two - pages that block people who are not logged in.</a:t>
            </a:r>
          </a:p>
          <a:p>
            <a:pPr algn="l">
              <a:lnSpc>
                <a:spcPts val="3188"/>
              </a:lnSpc>
            </a:pPr>
            <a:r>
              <a:rPr lang="en-US" sz="22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Three - your name and your role in the corner, and a menu that changes by role.</a:t>
            </a:r>
          </a:p>
          <a:p>
            <a:pPr algn="l">
              <a:lnSpc>
                <a:spcPts val="3188"/>
              </a:lnSpc>
              <a:spcBef>
                <a:spcPct val="0"/>
              </a:spcBef>
            </a:pPr>
            <a:r>
              <a:rPr lang="en-US" sz="22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Four - a logout button that really locks the door.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52516" y="7105360"/>
            <a:ext cx="5443027" cy="122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  <a:spcBef>
                <a:spcPct val="0"/>
              </a:spcBef>
            </a:pPr>
            <a:r>
              <a:rPr lang="en-US" sz="2277">
                <a:solidFill>
                  <a:srgbClr val="13222B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Our pages are 3000. The server is 8080. Our pages only talk to 8080, never to the other services behind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6721968"/>
            <a:ext cx="166693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6492722"/>
            <a:ext cx="458492" cy="45849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54232" y="6492722"/>
            <a:ext cx="458492" cy="45849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78194" y="6492744"/>
            <a:ext cx="458492" cy="4584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0"/>
            <a:ext cx="9144000" cy="4149729"/>
            <a:chOff x="0" y="0"/>
            <a:chExt cx="1416645" cy="642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6645" cy="642902"/>
            </a:xfrm>
            <a:custGeom>
              <a:avLst/>
              <a:gdLst/>
              <a:ahLst/>
              <a:cxnLst/>
              <a:rect r="r" b="b" t="t" l="l"/>
              <a:pathLst>
                <a:path h="642902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642902"/>
                  </a:lnTo>
                  <a:lnTo>
                    <a:pt x="0" y="642902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-11973" r="0" b="-1197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78857" y="6492744"/>
            <a:ext cx="458492" cy="45849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536124" y="6492722"/>
            <a:ext cx="458492" cy="45849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75017" y="6492744"/>
            <a:ext cx="458492" cy="45849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2403479"/>
            <a:ext cx="5073098" cy="338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Write it on the board before you start.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81075"/>
            <a:ext cx="3140638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FLOW ON THE BOARD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Login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54232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Token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78194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Auth Context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78857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Current User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36124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Role Access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575017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Logout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17557" y="8983320"/>
            <a:ext cx="11452887" cy="28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0"/>
              </a:lnSpc>
              <a:spcBef>
                <a:spcPct val="0"/>
              </a:spcBef>
            </a:pPr>
            <a:r>
              <a:rPr lang="en-US" sz="18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Point at it before every part and say: we are here.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200501" cy="10287000"/>
            <a:chOff x="0" y="0"/>
            <a:chExt cx="1896428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8964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96428">
                  <a:moveTo>
                    <a:pt x="0" y="0"/>
                  </a:moveTo>
                  <a:lnTo>
                    <a:pt x="1896428" y="0"/>
                  </a:lnTo>
                  <a:lnTo>
                    <a:pt x="18964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31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9642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true">
            <a:off x="8093759" y="5141441"/>
            <a:ext cx="9132023" cy="952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>
            <a:off x="12659770" y="1348647"/>
            <a:ext cx="0" cy="576802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true">
            <a:off x="8093759" y="3182917"/>
            <a:ext cx="9132023" cy="952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true">
            <a:off x="8093759" y="7111908"/>
            <a:ext cx="9132023" cy="9525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928691"/>
            <a:ext cx="5059131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THREE ROLES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536601" y="4346319"/>
            <a:ext cx="761215" cy="762196"/>
          </a:xfrm>
          <a:custGeom>
            <a:avLst/>
            <a:gdLst/>
            <a:ahLst/>
            <a:cxnLst/>
            <a:rect r="r" b="b" t="t" l="l"/>
            <a:pathLst>
              <a:path h="762196" w="761215">
                <a:moveTo>
                  <a:pt x="0" y="0"/>
                </a:moveTo>
                <a:lnTo>
                  <a:pt x="761215" y="0"/>
                </a:lnTo>
                <a:lnTo>
                  <a:pt x="761215" y="762196"/>
                </a:lnTo>
                <a:lnTo>
                  <a:pt x="0" y="76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3403" t="0" r="0" b="-63193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42440" y="7751079"/>
            <a:ext cx="8634660" cy="1507221"/>
            <a:chOff x="0" y="0"/>
            <a:chExt cx="12800376" cy="2234366"/>
          </a:xfrm>
        </p:grpSpPr>
        <p:sp>
          <p:nvSpPr>
            <p:cNvPr name="Freeform 12" id="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2800376" cy="2234367"/>
            </a:xfrm>
            <a:custGeom>
              <a:avLst/>
              <a:gdLst/>
              <a:ahLst/>
              <a:cxnLst/>
              <a:rect r="r" b="b" t="t" l="l"/>
              <a:pathLst>
                <a:path h="2234367" w="12800376">
                  <a:moveTo>
                    <a:pt x="26898" y="0"/>
                  </a:moveTo>
                  <a:lnTo>
                    <a:pt x="12773478" y="0"/>
                  </a:lnTo>
                  <a:cubicBezTo>
                    <a:pt x="12788333" y="0"/>
                    <a:pt x="12800376" y="12043"/>
                    <a:pt x="12800376" y="26898"/>
                  </a:cubicBezTo>
                  <a:lnTo>
                    <a:pt x="12800376" y="2207468"/>
                  </a:lnTo>
                  <a:cubicBezTo>
                    <a:pt x="12800376" y="2222324"/>
                    <a:pt x="12788333" y="2234367"/>
                    <a:pt x="12773478" y="2234367"/>
                  </a:cubicBezTo>
                  <a:lnTo>
                    <a:pt x="26898" y="2234367"/>
                  </a:lnTo>
                  <a:cubicBezTo>
                    <a:pt x="12043" y="2234367"/>
                    <a:pt x="0" y="2222324"/>
                    <a:pt x="0" y="2207468"/>
                  </a:cubicBezTo>
                  <a:lnTo>
                    <a:pt x="0" y="26898"/>
                  </a:lnTo>
                  <a:cubicBezTo>
                    <a:pt x="0" y="12043"/>
                    <a:pt x="12043" y="0"/>
                    <a:pt x="268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800376" cy="227246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100F0D"/>
                  </a:solidFill>
                  <a:latin typeface="Inter 2"/>
                  <a:ea typeface="Inter 2"/>
                  <a:cs typeface="Inter 2"/>
                  <a:sym typeface="Inter 2"/>
                </a:rPr>
                <a:t>The frontend hides what a role cannot use.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100F0D"/>
                  </a:solidFill>
                  <a:latin typeface="Inter 2"/>
                  <a:ea typeface="Inter 2"/>
                  <a:cs typeface="Inter 2"/>
                  <a:sym typeface="Inter 2"/>
                </a:rPr>
                <a:t>The gateway still refuses it. Both layers matter.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854396"/>
            <a:ext cx="5243646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One token. Four roles. Different doors.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93759" y="2206473"/>
            <a:ext cx="3906953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admin - sees everything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02718" y="3567753"/>
            <a:ext cx="3239212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participant - own profile, applications, results, certificates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2817" y="5534844"/>
            <a:ext cx="3089113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The role is printed on the badge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21758" y="1617959"/>
            <a:ext cx="3333053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facilitator - schedules, sessions, attendance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26143" y="3567753"/>
            <a:ext cx="2845444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Lowercase, always. The default is participant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21758" y="5944812"/>
            <a:ext cx="3599639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</a:pPr>
            <a:r>
              <a:rPr lang="en-US" sz="2400" spc="-93">
                <a:solidFill>
                  <a:srgbClr val="191919"/>
                </a:solidFill>
                <a:latin typeface="Inter 1"/>
                <a:ea typeface="Inter 1"/>
                <a:cs typeface="Inter 1"/>
                <a:sym typeface="Inter 1"/>
              </a:rPr>
              <a:t>The backend compares it letter by letter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4989" y="2486896"/>
            <a:ext cx="3978536" cy="62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Three parts are the desk. The last part is the door.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9302" y="2774163"/>
            <a:ext cx="10996081" cy="5324928"/>
          </a:xfrm>
          <a:custGeom>
            <a:avLst/>
            <a:gdLst/>
            <a:ahLst/>
            <a:cxnLst/>
            <a:rect r="r" b="b" t="t" l="l"/>
            <a:pathLst>
              <a:path h="5324928" w="10996081">
                <a:moveTo>
                  <a:pt x="0" y="0"/>
                </a:moveTo>
                <a:lnTo>
                  <a:pt x="10996081" y="0"/>
                </a:lnTo>
                <a:lnTo>
                  <a:pt x="10996081" y="5324929"/>
                </a:lnTo>
                <a:lnTo>
                  <a:pt x="0" y="5324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68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737403" y="6882899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9"/>
                </a:moveTo>
                <a:lnTo>
                  <a:pt x="671692" y="1765249"/>
                </a:lnTo>
                <a:lnTo>
                  <a:pt x="671692" y="0"/>
                </a:lnTo>
                <a:lnTo>
                  <a:pt x="0" y="0"/>
                </a:lnTo>
                <a:lnTo>
                  <a:pt x="0" y="1765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267430" y="6882899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9"/>
                </a:moveTo>
                <a:lnTo>
                  <a:pt x="671692" y="1765249"/>
                </a:lnTo>
                <a:lnTo>
                  <a:pt x="671692" y="0"/>
                </a:lnTo>
                <a:lnTo>
                  <a:pt x="0" y="0"/>
                </a:lnTo>
                <a:lnTo>
                  <a:pt x="0" y="1765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7348878" y="2406912"/>
            <a:ext cx="671692" cy="1765248"/>
          </a:xfrm>
          <a:custGeom>
            <a:avLst/>
            <a:gdLst/>
            <a:ahLst/>
            <a:cxnLst/>
            <a:rect r="r" b="b" t="t" l="l"/>
            <a:pathLst>
              <a:path h="1765248" w="671692">
                <a:moveTo>
                  <a:pt x="0" y="1765248"/>
                </a:moveTo>
                <a:lnTo>
                  <a:pt x="671692" y="1765248"/>
                </a:lnTo>
                <a:lnTo>
                  <a:pt x="671692" y="0"/>
                </a:lnTo>
                <a:lnTo>
                  <a:pt x="0" y="0"/>
                </a:lnTo>
                <a:lnTo>
                  <a:pt x="0" y="17652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393" t="-97997" r="-168856" b="-10428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656867" y="2187908"/>
            <a:ext cx="3154758" cy="5324928"/>
          </a:xfrm>
          <a:custGeom>
            <a:avLst/>
            <a:gdLst/>
            <a:ahLst/>
            <a:cxnLst/>
            <a:rect r="r" b="b" t="t" l="l"/>
            <a:pathLst>
              <a:path h="5324928" w="3154758">
                <a:moveTo>
                  <a:pt x="0" y="5324929"/>
                </a:moveTo>
                <a:lnTo>
                  <a:pt x="3154758" y="5324929"/>
                </a:lnTo>
                <a:lnTo>
                  <a:pt x="3154758" y="0"/>
                </a:lnTo>
                <a:lnTo>
                  <a:pt x="0" y="0"/>
                </a:lnTo>
                <a:lnTo>
                  <a:pt x="0" y="532492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83102" t="0" r="-2362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3500" y="838200"/>
            <a:ext cx="4463807" cy="77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559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FIVE PARTS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1125" y="8234396"/>
            <a:ext cx="1714500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</a:t>
            </a: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ART 3 - 13 min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82262" y="8234396"/>
            <a:ext cx="208112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PART 4 - 9 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80889" y="960277"/>
            <a:ext cx="224423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</a:t>
            </a: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ART 1 - 20 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3388" y="960277"/>
            <a:ext cx="2009862" cy="52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</a:t>
            </a: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ART 2 - 10 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1125" y="8948517"/>
            <a:ext cx="2996217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19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ashboard layout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2262" y="8732236"/>
            <a:ext cx="2081126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0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Users page + role change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80889" y="1349756"/>
            <a:ext cx="240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0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0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uth context + current user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63388" y="1637792"/>
            <a:ext cx="2286826" cy="23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7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17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rotected route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73250" y="8234396"/>
            <a:ext cx="2081126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</a:t>
            </a:r>
            <a:r>
              <a:rPr lang="en-US" sz="2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ART 5 - 3 min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8713186"/>
            <a:ext cx="2418288" cy="43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3"/>
              </a:lnSpc>
            </a:pPr>
            <a:r>
              <a:rPr lang="en-US" sz="15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Logout, inside the context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35739" y="0"/>
            <a:ext cx="7610526" cy="10287000"/>
            <a:chOff x="0" y="0"/>
            <a:chExt cx="1590654" cy="2150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0654" cy="2150057"/>
            </a:xfrm>
            <a:custGeom>
              <a:avLst/>
              <a:gdLst/>
              <a:ahLst/>
              <a:cxnLst/>
              <a:rect r="r" b="b" t="t" l="l"/>
              <a:pathLst>
                <a:path h="2150057" w="1590654">
                  <a:moveTo>
                    <a:pt x="0" y="0"/>
                  </a:moveTo>
                  <a:lnTo>
                    <a:pt x="1590654" y="0"/>
                  </a:lnTo>
                  <a:lnTo>
                    <a:pt x="1590654" y="2150057"/>
                  </a:lnTo>
                  <a:lnTo>
                    <a:pt x="0" y="2150057"/>
                  </a:lnTo>
                  <a:close/>
                </a:path>
              </a:pathLst>
            </a:custGeom>
            <a:blipFill>
              <a:blip r:embed="rId2">
                <a:alphaModFix amt="49000"/>
              </a:blip>
              <a:stretch>
                <a:fillRect l="0" t="-5587" r="0" b="-55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531895"/>
            <a:ext cx="4455190" cy="1207329"/>
            <a:chOff x="0" y="0"/>
            <a:chExt cx="1173383" cy="3179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2F315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32220" y="3531895"/>
            <a:ext cx="4455190" cy="1207329"/>
            <a:chOff x="0" y="0"/>
            <a:chExt cx="1173383" cy="3179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273484"/>
            <a:ext cx="4455190" cy="1207329"/>
            <a:chOff x="0" y="0"/>
            <a:chExt cx="1173383" cy="317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37045" y="5273484"/>
            <a:ext cx="4455190" cy="1207329"/>
            <a:chOff x="0" y="0"/>
            <a:chExt cx="1173383" cy="3179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2F31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8546" y="6747513"/>
            <a:ext cx="4455190" cy="1207329"/>
            <a:chOff x="0" y="0"/>
            <a:chExt cx="1173383" cy="3179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2F31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22065" y="6747513"/>
            <a:ext cx="4455190" cy="1207329"/>
            <a:chOff x="0" y="0"/>
            <a:chExt cx="1173383" cy="3179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8546" y="8489103"/>
            <a:ext cx="4455190" cy="1207329"/>
            <a:chOff x="0" y="0"/>
            <a:chExt cx="1173383" cy="3179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26890" y="8489103"/>
            <a:ext cx="4455190" cy="1207329"/>
            <a:chOff x="0" y="0"/>
            <a:chExt cx="1173383" cy="3179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3384" cy="317980"/>
            </a:xfrm>
            <a:custGeom>
              <a:avLst/>
              <a:gdLst/>
              <a:ahLst/>
              <a:cxnLst/>
              <a:rect r="r" b="b" t="t" l="l"/>
              <a:pathLst>
                <a:path h="317980" w="1173384">
                  <a:moveTo>
                    <a:pt x="0" y="0"/>
                  </a:moveTo>
                  <a:lnTo>
                    <a:pt x="1173384" y="0"/>
                  </a:lnTo>
                  <a:lnTo>
                    <a:pt x="1173384" y="317980"/>
                  </a:lnTo>
                  <a:lnTo>
                    <a:pt x="0" y="317980"/>
                  </a:lnTo>
                  <a:close/>
                </a:path>
              </a:pathLst>
            </a:custGeom>
            <a:solidFill>
              <a:srgbClr val="2F315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173383" cy="337030"/>
            </a:xfrm>
            <a:prstGeom prst="rect">
              <a:avLst/>
            </a:prstGeom>
          </p:spPr>
          <p:txBody>
            <a:bodyPr anchor="ctr" rtlCol="false" tIns="28575" lIns="28575" bIns="28575" rIns="28575"/>
            <a:lstStyle/>
            <a:p>
              <a:pPr algn="ctr">
                <a:lnSpc>
                  <a:spcPts val="149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57375" y="3840285"/>
            <a:ext cx="41265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middleware cannot read localStorage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39045"/>
            <a:ext cx="954322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202122"/>
                </a:solidFill>
                <a:latin typeface="Poppins Bold"/>
                <a:ea typeface="Poppins Bold"/>
                <a:cs typeface="Poppins Bold"/>
                <a:sym typeface="Poppins Bold"/>
              </a:rPr>
              <a:t>Every trap has a clear fix.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27667" y="3840285"/>
            <a:ext cx="35773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02122"/>
                </a:solidFill>
                <a:latin typeface="DM Sans"/>
                <a:ea typeface="DM Sans"/>
                <a:cs typeface="DM Sans"/>
                <a:sym typeface="DM Sans"/>
              </a:rPr>
              <a:t>Write the token into a cookie too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1782" y="5581874"/>
            <a:ext cx="395677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02122"/>
                </a:solidFill>
                <a:latin typeface="DM Sans"/>
                <a:ea typeface="DM Sans"/>
                <a:cs typeface="DM Sans"/>
                <a:sym typeface="DM Sans"/>
              </a:rPr>
              <a:t>AuthProvider only around the dashboard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62822" y="5581874"/>
            <a:ext cx="35773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Wrap the whole app in app/layout.tsx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281551"/>
            <a:ext cx="272052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02122"/>
                </a:solidFill>
                <a:latin typeface="DM Sans"/>
                <a:ea typeface="DM Sans"/>
                <a:cs typeface="DM Sans"/>
                <a:sym typeface="DM Sans"/>
              </a:rPr>
              <a:t>TRAPS &amp; FIXES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7221" y="7055903"/>
            <a:ext cx="41265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middleware.ts put inside app/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17513" y="7055903"/>
            <a:ext cx="35773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02122"/>
                </a:solidFill>
                <a:latin typeface="DM Sans"/>
                <a:ea typeface="DM Sans"/>
                <a:cs typeface="DM Sans"/>
                <a:sym typeface="DM Sans"/>
              </a:rPr>
              <a:t>Put it at the project root, next to app/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1627" y="8797492"/>
            <a:ext cx="395677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202122"/>
                </a:solidFill>
                <a:latin typeface="DM Sans"/>
                <a:ea typeface="DM Sans"/>
                <a:cs typeface="DM Sans"/>
                <a:sym typeface="DM Sans"/>
              </a:rPr>
              <a:t>Admin or ADMIN in the role check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52667" y="8797492"/>
            <a:ext cx="35773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Lowercase, exactly: admin, facilitator, participant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31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4381500"/>
            <a:ext cx="4000500" cy="3238500"/>
            <a:chOff x="0" y="0"/>
            <a:chExt cx="5334000" cy="431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3F417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43500" y="4381500"/>
            <a:ext cx="4000500" cy="3238500"/>
            <a:chOff x="0" y="0"/>
            <a:chExt cx="5334000" cy="431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45478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3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4381500"/>
            <a:ext cx="4000500" cy="3238500"/>
            <a:chOff x="0" y="0"/>
            <a:chExt cx="5334000" cy="431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3F417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3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44500" y="4381500"/>
            <a:ext cx="4000500" cy="3238500"/>
            <a:chOff x="0" y="0"/>
            <a:chExt cx="5334000" cy="431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36A6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34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43000" y="4381500"/>
            <a:ext cx="4000500" cy="3238500"/>
          </a:xfrm>
          <a:custGeom>
            <a:avLst/>
            <a:gdLst/>
            <a:ahLst/>
            <a:cxnLst/>
            <a:rect r="r" b="b" t="t" l="l"/>
            <a:pathLst>
              <a:path h="3238500" w="4000500">
                <a:moveTo>
                  <a:pt x="0" y="0"/>
                </a:moveTo>
                <a:lnTo>
                  <a:pt x="4000500" y="0"/>
                </a:lnTo>
                <a:lnTo>
                  <a:pt x="40005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l="-12010" t="0" r="-1201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43500" y="4381500"/>
            <a:ext cx="4000500" cy="3238500"/>
          </a:xfrm>
          <a:custGeom>
            <a:avLst/>
            <a:gdLst/>
            <a:ahLst/>
            <a:cxnLst/>
            <a:rect r="r" b="b" t="t" l="l"/>
            <a:pathLst>
              <a:path h="3238500" w="4000500">
                <a:moveTo>
                  <a:pt x="0" y="0"/>
                </a:moveTo>
                <a:lnTo>
                  <a:pt x="4000500" y="0"/>
                </a:lnTo>
                <a:lnTo>
                  <a:pt x="40005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-42815" r="0" b="-4281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4381500"/>
            <a:ext cx="4000500" cy="3238500"/>
          </a:xfrm>
          <a:custGeom>
            <a:avLst/>
            <a:gdLst/>
            <a:ahLst/>
            <a:cxnLst/>
            <a:rect r="r" b="b" t="t" l="l"/>
            <a:pathLst>
              <a:path h="3238500" w="4000500">
                <a:moveTo>
                  <a:pt x="0" y="0"/>
                </a:moveTo>
                <a:lnTo>
                  <a:pt x="4000500" y="0"/>
                </a:lnTo>
                <a:lnTo>
                  <a:pt x="40005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-10659" t="0" r="-10659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44500" y="4381500"/>
            <a:ext cx="4000500" cy="3238500"/>
          </a:xfrm>
          <a:custGeom>
            <a:avLst/>
            <a:gdLst/>
            <a:ahLst/>
            <a:cxnLst/>
            <a:rect r="r" b="b" t="t" l="l"/>
            <a:pathLst>
              <a:path h="3238500" w="4000500">
                <a:moveTo>
                  <a:pt x="0" y="0"/>
                </a:moveTo>
                <a:lnTo>
                  <a:pt x="4000500" y="0"/>
                </a:lnTo>
                <a:lnTo>
                  <a:pt x="40005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 l="-10824" t="0" r="-1082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24000" y="838200"/>
            <a:ext cx="952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EDEEF7"/>
                </a:solidFill>
                <a:latin typeface="Lato Bold"/>
                <a:ea typeface="Lato Bold"/>
                <a:cs typeface="Lato Bold"/>
                <a:sym typeface="Lato Bold"/>
              </a:rPr>
              <a:t>THE 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4000" y="1495425"/>
            <a:ext cx="13335000" cy="68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7"/>
              </a:lnSpc>
              <a:spcBef>
                <a:spcPct val="0"/>
              </a:spcBef>
            </a:pPr>
            <a:r>
              <a:rPr lang="en-US" b="true" sz="495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THE FILES YOU WILL TOUCH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4000" y="2562225"/>
            <a:ext cx="1333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>
                <a:solidFill>
                  <a:srgbClr val="C9CBE6"/>
                </a:solidFill>
                <a:latin typeface="Poppins"/>
                <a:ea typeface="Poppins"/>
                <a:cs typeface="Poppins"/>
                <a:sym typeface="Poppins"/>
              </a:rPr>
              <a:t>Four files. Nothing else moves in my hour.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4000" y="8848725"/>
            <a:ext cx="1524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Plus one line in app/layout.tsx: wrap the whole app in &lt;AuthProvider&gt;, not just the dashboard.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4000" y="9334500"/>
            <a:ext cx="15240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OTHERWISE THE LOGIN PAGE CANNOT USE useAuth().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000" y="4752975"/>
            <a:ext cx="3048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context.tsx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4000" y="5438775"/>
            <a:ext cx="32385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5"/>
              </a:lnSpc>
              <a:spcBef>
                <a:spcPct val="0"/>
              </a:spcBef>
            </a:pPr>
            <a:r>
              <a:rPr lang="en-US" sz="165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packages/auth/context/context.tsx - the auth context and logout.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4500" y="4752975"/>
            <a:ext cx="3048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middleware.ts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24500" y="5438775"/>
            <a:ext cx="32385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5"/>
              </a:lnSpc>
              <a:spcBef>
                <a:spcPct val="0"/>
              </a:spcBef>
            </a:pPr>
            <a:r>
              <a:rPr lang="en-US" sz="165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At the project root, next to app/ - the protected route.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5000" y="4752975"/>
            <a:ext cx="3048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layout.tsx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25000" y="5438775"/>
            <a:ext cx="3238500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5"/>
              </a:lnSpc>
              <a:spcBef>
                <a:spcPct val="0"/>
              </a:spcBef>
            </a:pPr>
            <a:r>
              <a:rPr lang="en-US" sz="165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app/dashboard/layout.tsx and page.tsx - sidebar, name, role, logout.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25500" y="4752975"/>
            <a:ext cx="3048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DEEF7"/>
                </a:solidFill>
                <a:latin typeface="Arimo Bold"/>
                <a:ea typeface="Arimo Bold"/>
                <a:cs typeface="Arimo Bold"/>
                <a:sym typeface="Arimo Bold"/>
              </a:rPr>
              <a:t>users/page.tsx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25500" y="5438775"/>
            <a:ext cx="32385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5"/>
              </a:lnSpc>
              <a:spcBef>
                <a:spcPct val="0"/>
              </a:spcBef>
            </a:pPr>
            <a:r>
              <a:rPr lang="en-US" sz="1650">
                <a:solidFill>
                  <a:srgbClr val="EDEEF7"/>
                </a:solidFill>
                <a:latin typeface="Arimo"/>
                <a:ea typeface="Arimo"/>
                <a:cs typeface="Arimo"/>
                <a:sym typeface="Arimo"/>
              </a:rPr>
              <a:t>app/dashboard/users/page.tsx - the list and the role dropdown.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31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92246" y="3277851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92246" y="3568706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33463" y="0"/>
            <a:ext cx="0" cy="1028700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92246" y="3859561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905000" y="3810000"/>
            <a:ext cx="6953250" cy="4953000"/>
            <a:chOff x="0" y="0"/>
            <a:chExt cx="1611305" cy="1147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1305" cy="1147779"/>
            </a:xfrm>
            <a:custGeom>
              <a:avLst/>
              <a:gdLst/>
              <a:ahLst/>
              <a:cxnLst/>
              <a:rect r="r" b="b" t="t" l="l"/>
              <a:pathLst>
                <a:path h="1147779" w="1611305">
                  <a:moveTo>
                    <a:pt x="0" y="0"/>
                  </a:moveTo>
                  <a:lnTo>
                    <a:pt x="1611305" y="0"/>
                  </a:lnTo>
                  <a:lnTo>
                    <a:pt x="1611305" y="1147779"/>
                  </a:lnTo>
                  <a:lnTo>
                    <a:pt x="0" y="1147779"/>
                  </a:lnTo>
                  <a:close/>
                </a:path>
              </a:pathLst>
            </a:custGeom>
            <a:solidFill>
              <a:srgbClr val="36A6D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11305" cy="1195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05000" y="3810000"/>
            <a:ext cx="6953250" cy="4953000"/>
            <a:chOff x="0" y="0"/>
            <a:chExt cx="9271000" cy="6604000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>
              <a:alphaModFix amt="5000"/>
            </a:blip>
            <a:srcRect l="10458" t="0" r="10458" b="0"/>
            <a:stretch>
              <a:fillRect/>
            </a:stretch>
          </p:blipFill>
          <p:spPr>
            <a:xfrm flipH="false" flipV="false">
              <a:off x="0" y="0"/>
              <a:ext cx="9271000" cy="6604000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9429750" y="3810000"/>
            <a:ext cx="6953250" cy="4953000"/>
            <a:chOff x="0" y="0"/>
            <a:chExt cx="9271000" cy="660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271000" cy="6604000"/>
              <a:chOff x="0" y="0"/>
              <a:chExt cx="1611305" cy="114777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11305" cy="1147779"/>
              </a:xfrm>
              <a:custGeom>
                <a:avLst/>
                <a:gdLst/>
                <a:ahLst/>
                <a:cxnLst/>
                <a:rect r="r" b="b" t="t" l="l"/>
                <a:pathLst>
                  <a:path h="1147779" w="1611305">
                    <a:moveTo>
                      <a:pt x="0" y="0"/>
                    </a:moveTo>
                    <a:lnTo>
                      <a:pt x="1611305" y="0"/>
                    </a:lnTo>
                    <a:lnTo>
                      <a:pt x="1611305" y="1147779"/>
                    </a:lnTo>
                    <a:lnTo>
                      <a:pt x="0" y="1147779"/>
                    </a:lnTo>
                    <a:close/>
                  </a:path>
                </a:pathLst>
              </a:custGeom>
              <a:solidFill>
                <a:srgbClr val="3F4176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611305" cy="1185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9271000" cy="6604000"/>
              <a:chOff x="0" y="0"/>
              <a:chExt cx="9271000" cy="6604000"/>
            </a:xfrm>
          </p:grpSpPr>
          <p:pic>
            <p:nvPicPr>
              <p:cNvPr name="Picture 19" id="19"/>
              <p:cNvPicPr>
                <a:picLocks noChangeAspect="true"/>
              </p:cNvPicPr>
              <p:nvPr/>
            </p:nvPicPr>
            <p:blipFill>
              <a:blip r:embed="rId3">
                <a:alphaModFix amt="5000"/>
              </a:blip>
              <a:srcRect l="0" t="26298" r="0" b="26298"/>
              <a:stretch>
                <a:fillRect/>
              </a:stretch>
            </p:blipFill>
            <p:spPr>
              <a:xfrm flipH="false" flipV="false">
                <a:off x="0" y="0"/>
                <a:ext cx="9271000" cy="6604000"/>
              </a:xfrm>
              <a:prstGeom prst="rect">
                <a:avLst/>
              </a:prstGeom>
            </p:spPr>
          </p:pic>
        </p:grpSp>
        <p:sp>
          <p:nvSpPr>
            <p:cNvPr name="TextBox 20" id="20"/>
            <p:cNvSpPr txBox="true"/>
            <p:nvPr/>
          </p:nvSpPr>
          <p:spPr>
            <a:xfrm rot="0">
              <a:off x="635000" y="1819275"/>
              <a:ext cx="8001000" cy="196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306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 name appears in the corner</a:t>
              </a:r>
            </a:p>
            <a:p>
              <a:pPr algn="l" marL="388620" indent="-194310" lvl="1">
                <a:lnSpc>
                  <a:spcPts val="306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Press F5</a:t>
              </a:r>
            </a:p>
            <a:p>
              <a:pPr algn="l" marL="388620" indent="-194310" lvl="1">
                <a:lnSpc>
                  <a:spcPts val="306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name is still there</a:t>
              </a:r>
            </a:p>
            <a:p>
              <a:pPr algn="l" marL="388620" indent="-194310" lvl="1">
                <a:lnSpc>
                  <a:spcPts val="30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badge survived, you did not go back to the desk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35000" y="850900"/>
              <a:ext cx="445198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THEN WE TEST IT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5153025"/>
            <a:ext cx="600075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EDEEF7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800">
                <a:solidFill>
                  <a:srgbClr val="EDEEF7"/>
                </a:solidFill>
                <a:latin typeface="DM Sans"/>
                <a:ea typeface="DM Sans"/>
                <a:cs typeface="DM Sans"/>
                <a:sym typeface="DM Sans"/>
              </a:rPr>
              <a:t>re you logged in</a:t>
            </a:r>
          </a:p>
          <a:p>
            <a:pPr algn="l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EDEEF7"/>
                </a:solidFill>
                <a:latin typeface="DM Sans"/>
                <a:ea typeface="DM Sans"/>
                <a:cs typeface="DM Sans"/>
                <a:sym typeface="DM Sans"/>
              </a:rPr>
              <a:t>What is your name</a:t>
            </a:r>
          </a:p>
          <a:p>
            <a:pPr algn="l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EDEEF7"/>
                </a:solidFill>
                <a:latin typeface="DM Sans"/>
                <a:ea typeface="DM Sans"/>
                <a:cs typeface="DM Sans"/>
                <a:sym typeface="DM Sans"/>
              </a:rPr>
              <a:t>What is your badge, the role</a:t>
            </a:r>
          </a:p>
          <a:p>
            <a:pPr algn="l" marL="388620" indent="-194310" lvl="1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EDEEF7"/>
                </a:solidFill>
                <a:latin typeface="DM Sans"/>
                <a:ea typeface="DM Sans"/>
                <a:cs typeface="DM Sans"/>
                <a:sym typeface="DM Sans"/>
              </a:rPr>
              <a:t>Built in packages/auth/context/context.tsx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81250" y="4429125"/>
            <a:ext cx="37004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DEE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REMEMBERS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66900" y="1514475"/>
            <a:ext cx="1368031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4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 CONTEXT + CURRENT USER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6900" y="2571750"/>
            <a:ext cx="13335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6E6E6"/>
                </a:solidFill>
                <a:latin typeface="Roboto Bold"/>
                <a:ea typeface="Roboto Bold"/>
                <a:cs typeface="Roboto Bold"/>
                <a:sym typeface="Roboto Bold"/>
              </a:rPr>
              <a:t>The check happens once, and after that the whole conference knows you.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66900" y="838200"/>
            <a:ext cx="952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E6E6E6"/>
                </a:solidFill>
                <a:latin typeface="Roboto Bold"/>
                <a:ea typeface="Roboto Bold"/>
                <a:cs typeface="Roboto Bold"/>
                <a:sym typeface="Roboto Bold"/>
              </a:rPr>
              <a:t>PART 1 - 20 MIN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4000" y="9334500"/>
            <a:ext cx="15240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 /AUTH/ME? WE READ THE NAME AND ROLE OUT OF THE TOKEN ITSELF.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2246" y="3277851"/>
            <a:ext cx="482433" cy="0"/>
          </a:xfrm>
          <a:prstGeom prst="line">
            <a:avLst/>
          </a:prstGeom>
          <a:ln cap="flat" w="9525">
            <a:solidFill>
              <a:srgbClr val="E9E9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92246" y="3568706"/>
            <a:ext cx="482433" cy="0"/>
          </a:xfrm>
          <a:prstGeom prst="line">
            <a:avLst/>
          </a:prstGeom>
          <a:ln cap="flat" w="9525">
            <a:solidFill>
              <a:srgbClr val="E9E9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33463" y="0"/>
            <a:ext cx="0" cy="10287000"/>
          </a:xfrm>
          <a:prstGeom prst="line">
            <a:avLst/>
          </a:prstGeom>
          <a:ln cap="flat" w="9525">
            <a:solidFill>
              <a:srgbClr val="E9E9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92246" y="3859561"/>
            <a:ext cx="482433" cy="0"/>
          </a:xfrm>
          <a:prstGeom prst="line">
            <a:avLst/>
          </a:prstGeom>
          <a:ln cap="flat" w="9525">
            <a:solidFill>
              <a:srgbClr val="E9E9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596156" y="0"/>
            <a:ext cx="3845922" cy="10287000"/>
            <a:chOff x="0" y="0"/>
            <a:chExt cx="5127896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>
              <a:alphaModFix amt="43000"/>
            </a:blip>
            <a:srcRect l="31306" t="0" r="31306" b="0"/>
            <a:stretch>
              <a:fillRect/>
            </a:stretch>
          </p:blipFill>
          <p:spPr>
            <a:xfrm flipH="false" flipV="false">
              <a:off x="0" y="0"/>
              <a:ext cx="5127896" cy="13716000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6750234" y="0"/>
            <a:ext cx="3845922" cy="10287000"/>
            <a:chOff x="0" y="0"/>
            <a:chExt cx="5127896" cy="13716000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3">
              <a:alphaModFix amt="43000"/>
            </a:blip>
            <a:srcRect l="21960" t="0" r="21960" b="0"/>
            <a:stretch>
              <a:fillRect/>
            </a:stretch>
          </p:blipFill>
          <p:spPr>
            <a:xfrm flipH="false" flipV="false">
              <a:off x="0" y="0"/>
              <a:ext cx="5127896" cy="13716000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4442078" y="0"/>
            <a:ext cx="3845922" cy="10287000"/>
            <a:chOff x="0" y="0"/>
            <a:chExt cx="5127896" cy="13716000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>
              <a:alphaModFix amt="43000"/>
            </a:blip>
            <a:srcRect l="66679" t="0" r="8441" b="0"/>
            <a:stretch>
              <a:fillRect/>
            </a:stretch>
          </p:blipFill>
          <p:spPr>
            <a:xfrm flipH="false" flipV="false">
              <a:off x="0" y="0"/>
              <a:ext cx="5127896" cy="13716000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6750234" y="0"/>
            <a:ext cx="3845922" cy="10287000"/>
            <a:chOff x="0" y="0"/>
            <a:chExt cx="1012918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29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AB7FAB">
                    <a:alpha val="0"/>
                  </a:srgbClr>
                </a:gs>
                <a:gs pos="100000">
                  <a:srgbClr val="2B34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29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6754997" y="0"/>
            <a:ext cx="0" cy="10287000"/>
          </a:xfrm>
          <a:prstGeom prst="line">
            <a:avLst/>
          </a:prstGeom>
          <a:ln cap="flat" w="9525">
            <a:solidFill>
              <a:srgbClr val="E9E9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591800" y="0"/>
            <a:ext cx="3850278" cy="10287000"/>
            <a:chOff x="0" y="0"/>
            <a:chExt cx="1014065" cy="27093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40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4065">
                  <a:moveTo>
                    <a:pt x="0" y="0"/>
                  </a:moveTo>
                  <a:lnTo>
                    <a:pt x="1014065" y="0"/>
                  </a:lnTo>
                  <a:lnTo>
                    <a:pt x="101406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ECC13E">
                    <a:alpha val="0"/>
                  </a:srgbClr>
                </a:gs>
                <a:gs pos="100000">
                  <a:srgbClr val="EBE130">
                    <a:alpha val="79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140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442078" y="0"/>
            <a:ext cx="3845922" cy="10287000"/>
            <a:chOff x="0" y="0"/>
            <a:chExt cx="1012918" cy="27093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29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12918">
                  <a:moveTo>
                    <a:pt x="0" y="0"/>
                  </a:moveTo>
                  <a:lnTo>
                    <a:pt x="1012918" y="0"/>
                  </a:lnTo>
                  <a:lnTo>
                    <a:pt x="101291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AB7FAB">
                    <a:alpha val="0"/>
                  </a:srgbClr>
                </a:gs>
                <a:gs pos="100000">
                  <a:srgbClr val="2B34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29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66900" y="2914650"/>
            <a:ext cx="47625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5"/>
              </a:lnSpc>
              <a:spcBef>
                <a:spcPct val="0"/>
              </a:spcBef>
            </a:pPr>
            <a:r>
              <a:rPr lang="en-US" b="true" sz="4500">
                <a:solidFill>
                  <a:srgbClr val="E9E9E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PROTECTED ROUTE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3264" y="4511681"/>
            <a:ext cx="20904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E9E9EA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99186" y="4511681"/>
            <a:ext cx="20904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E9E9EA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53264" y="7152253"/>
            <a:ext cx="283986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They check at the door, before you are inside. Middleware runs before the page even opens.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48525" y="6343650"/>
            <a:ext cx="285750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The door staff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99186" y="7142728"/>
            <a:ext cx="283986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iddleware.ts at the project root, next to app/ - not inside it, or Next.js never runs it.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96625" y="6343650"/>
            <a:ext cx="285750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Where it lives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45108" y="7152253"/>
            <a:ext cx="283986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Log out, then type the dashboard address by hand. Blocked. Do it slowly.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44725" y="6343650"/>
            <a:ext cx="285750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The test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45108" y="4511681"/>
            <a:ext cx="209042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E9E9EA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75612" y="6097937"/>
            <a:ext cx="3864972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he trap. Middleware runs on the server. It cannot see localStorage.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That is why we save the token into a cookie as well. Token only in localStorage means the dashboard stays blocked even when you are logged in.</a:t>
            </a:r>
          </a:p>
          <a:p>
            <a:pPr algn="l">
              <a:lnSpc>
                <a:spcPts val="2100"/>
              </a:lnSpc>
            </a:pP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SAY IT OUT LOUD BEFORE YOU TYPE IT.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6721968"/>
            <a:ext cx="166693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6492722"/>
            <a:ext cx="458492" cy="45849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54232" y="6492722"/>
            <a:ext cx="458492" cy="45849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78194" y="6492744"/>
            <a:ext cx="458492" cy="4584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78857" y="6492744"/>
            <a:ext cx="458492" cy="45849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536124" y="6492722"/>
            <a:ext cx="458492" cy="45849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75017" y="6492744"/>
            <a:ext cx="458492" cy="45849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5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2264334"/>
            <a:ext cx="507309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LAYOUT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981075"/>
            <a:ext cx="314063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PART 3 - 13 MIN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Sidebar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54232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Your name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78194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Your role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78857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Users link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36124" y="7382826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Logout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75017" y="7382849"/>
            <a:ext cx="3457267" cy="3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  <a:spcBef>
                <a:spcPct val="0"/>
              </a:spcBef>
            </a:pPr>
            <a:r>
              <a:rPr lang="en-US" sz="25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 by role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17557" y="8983320"/>
            <a:ext cx="11452887" cy="28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10"/>
              </a:lnSpc>
              <a:spcBef>
                <a:spcPct val="0"/>
              </a:spcBef>
            </a:pPr>
            <a:r>
              <a:rPr lang="en-US" sz="18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8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og in as a participant: no Users link. Log in as admin: it is there. Same app, different menu.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F31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92246" y="3277851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92246" y="3568706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033463" y="0"/>
            <a:ext cx="0" cy="1028700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92246" y="3859561"/>
            <a:ext cx="48243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905000" y="3810000"/>
            <a:ext cx="6953250" cy="4953000"/>
            <a:chOff x="0" y="0"/>
            <a:chExt cx="1611305" cy="1147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1305" cy="1147779"/>
            </a:xfrm>
            <a:custGeom>
              <a:avLst/>
              <a:gdLst/>
              <a:ahLst/>
              <a:cxnLst/>
              <a:rect r="r" b="b" t="t" l="l"/>
              <a:pathLst>
                <a:path h="1147779" w="1611305">
                  <a:moveTo>
                    <a:pt x="0" y="0"/>
                  </a:moveTo>
                  <a:lnTo>
                    <a:pt x="1611305" y="0"/>
                  </a:lnTo>
                  <a:lnTo>
                    <a:pt x="1611305" y="1147779"/>
                  </a:lnTo>
                  <a:lnTo>
                    <a:pt x="0" y="1147779"/>
                  </a:lnTo>
                  <a:close/>
                </a:path>
              </a:pathLst>
            </a:custGeom>
            <a:solidFill>
              <a:srgbClr val="2F528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11305" cy="1195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05000" y="3810000"/>
            <a:ext cx="6953250" cy="4953000"/>
            <a:chOff x="0" y="0"/>
            <a:chExt cx="9271000" cy="6604000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2">
              <a:alphaModFix amt="5000"/>
            </a:blip>
            <a:srcRect l="10564" t="0" r="10564" b="0"/>
            <a:stretch>
              <a:fillRect/>
            </a:stretch>
          </p:blipFill>
          <p:spPr>
            <a:xfrm flipH="false" flipV="false">
              <a:off x="0" y="0"/>
              <a:ext cx="9271000" cy="6604000"/>
            </a:xfrm>
            <a:prstGeom prst="rect">
              <a:avLst/>
            </a:prstGeom>
          </p:spPr>
        </p:pic>
      </p:grpSp>
      <p:grpSp>
        <p:nvGrpSpPr>
          <p:cNvPr name="Group 14" id="14"/>
          <p:cNvGrpSpPr/>
          <p:nvPr/>
        </p:nvGrpSpPr>
        <p:grpSpPr>
          <a:xfrm rot="0">
            <a:off x="9429750" y="3810000"/>
            <a:ext cx="6953250" cy="4953000"/>
            <a:chOff x="0" y="0"/>
            <a:chExt cx="9271000" cy="660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271000" cy="6604000"/>
              <a:chOff x="0" y="0"/>
              <a:chExt cx="1611305" cy="114777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11305" cy="1147779"/>
              </a:xfrm>
              <a:custGeom>
                <a:avLst/>
                <a:gdLst/>
                <a:ahLst/>
                <a:cxnLst/>
                <a:rect r="r" b="b" t="t" l="l"/>
                <a:pathLst>
                  <a:path h="1147779" w="1611305">
                    <a:moveTo>
                      <a:pt x="0" y="0"/>
                    </a:moveTo>
                    <a:lnTo>
                      <a:pt x="1611305" y="0"/>
                    </a:lnTo>
                    <a:lnTo>
                      <a:pt x="1611305" y="1147779"/>
                    </a:lnTo>
                    <a:lnTo>
                      <a:pt x="0" y="1147779"/>
                    </a:lnTo>
                    <a:close/>
                  </a:path>
                </a:pathLst>
              </a:custGeom>
              <a:solidFill>
                <a:srgbClr val="3F4176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611305" cy="1185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9271000" cy="6604000"/>
              <a:chOff x="0" y="0"/>
              <a:chExt cx="9271000" cy="6604000"/>
            </a:xfrm>
          </p:grpSpPr>
          <p:pic>
            <p:nvPicPr>
              <p:cNvPr name="Picture 19" id="19"/>
              <p:cNvPicPr>
                <a:picLocks noChangeAspect="true"/>
              </p:cNvPicPr>
              <p:nvPr/>
            </p:nvPicPr>
            <p:blipFill>
              <a:blip r:embed="rId2">
                <a:alphaModFix amt="5000"/>
              </a:blip>
              <a:srcRect l="10564" t="0" r="10564" b="0"/>
              <a:stretch>
                <a:fillRect/>
              </a:stretch>
            </p:blipFill>
            <p:spPr>
              <a:xfrm flipH="false" flipV="false">
                <a:off x="0" y="0"/>
                <a:ext cx="9271000" cy="6604000"/>
              </a:xfrm>
              <a:prstGeom prst="rect">
                <a:avLst/>
              </a:prstGeom>
            </p:spPr>
          </p:pic>
        </p:grpSp>
        <p:sp>
          <p:nvSpPr>
            <p:cNvPr name="TextBox 20" id="20"/>
            <p:cNvSpPr txBox="true"/>
            <p:nvPr/>
          </p:nvSpPr>
          <p:spPr>
            <a:xfrm rot="0">
              <a:off x="635000" y="1828800"/>
              <a:ext cx="8001000" cy="2286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6235" indent="-178118" lvl="1">
                <a:lnSpc>
                  <a:spcPts val="2805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 backend compares letter by letter</a:t>
              </a:r>
            </a:p>
            <a:p>
              <a:pPr algn="l" marL="356235" indent="-178118" lvl="1">
                <a:lnSpc>
                  <a:spcPts val="2805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Admin and ADMIN both fail</a:t>
              </a:r>
            </a:p>
            <a:p>
              <a:pPr algn="l" marL="356235" indent="-178118" lvl="1">
                <a:lnSpc>
                  <a:spcPts val="2805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Like the name on a flight ticket, it must match the passport exactly</a:t>
              </a:r>
            </a:p>
            <a:p>
              <a:pPr algn="l" marL="356235" indent="-178118" lvl="1">
                <a:lnSpc>
                  <a:spcPts val="28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Write it on the board and leave it there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35000" y="850900"/>
              <a:ext cx="7112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SPELLING WARNING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5162550"/>
            <a:ext cx="600075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805"/>
              </a:lnSpc>
              <a:buFont typeface="Arial"/>
              <a:buChar char="•"/>
            </a:pPr>
            <a:r>
              <a:rPr lang="en-US" sz="1650">
                <a:solidFill>
                  <a:srgbClr val="E9E9EA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50">
                <a:solidFill>
                  <a:srgbClr val="E9E9EA"/>
                </a:solidFill>
                <a:latin typeface="DM Sans"/>
                <a:ea typeface="DM Sans"/>
                <a:cs typeface="DM Sans"/>
                <a:sym typeface="DM Sans"/>
              </a:rPr>
              <a:t>dmin sees everything</a:t>
            </a:r>
          </a:p>
          <a:p>
            <a:pPr algn="l" marL="356235" indent="-178118" lvl="1">
              <a:lnSpc>
                <a:spcPts val="2805"/>
              </a:lnSpc>
              <a:buFont typeface="Arial"/>
              <a:buChar char="•"/>
            </a:pPr>
            <a:r>
              <a:rPr lang="en-US" sz="1650">
                <a:solidFill>
                  <a:srgbClr val="E9E9EA"/>
                </a:solidFill>
                <a:latin typeface="DM Sans"/>
                <a:ea typeface="DM Sans"/>
                <a:cs typeface="DM Sans"/>
                <a:sym typeface="DM Sans"/>
              </a:rPr>
              <a:t>facilitator reads schedules, sessions, attendance</a:t>
            </a:r>
          </a:p>
          <a:p>
            <a:pPr algn="l" marL="356235" indent="-178118" lvl="1">
              <a:lnSpc>
                <a:spcPts val="2805"/>
              </a:lnSpc>
              <a:buFont typeface="Arial"/>
              <a:buChar char="•"/>
            </a:pPr>
            <a:r>
              <a:rPr lang="en-US" sz="1650">
                <a:solidFill>
                  <a:srgbClr val="E9E9EA"/>
                </a:solidFill>
                <a:latin typeface="DM Sans"/>
                <a:ea typeface="DM Sans"/>
                <a:cs typeface="DM Sans"/>
                <a:sym typeface="DM Sans"/>
              </a:rPr>
              <a:t>participant sees their own profile, applications, results, certificates</a:t>
            </a:r>
          </a:p>
          <a:p>
            <a:pPr algn="l" marL="356235" indent="-178118" lvl="1">
              <a:lnSpc>
                <a:spcPts val="2805"/>
              </a:lnSpc>
              <a:spcBef>
                <a:spcPct val="0"/>
              </a:spcBef>
              <a:buFont typeface="Arial"/>
              <a:buChar char="•"/>
            </a:pPr>
            <a:r>
              <a:rPr lang="en-US" sz="1650">
                <a:solidFill>
                  <a:srgbClr val="E9E9EA"/>
                </a:solidFill>
                <a:latin typeface="DM Sans"/>
                <a:ea typeface="DM Sans"/>
                <a:cs typeface="DM Sans"/>
                <a:sym typeface="DM Sans"/>
              </a:rPr>
              <a:t>The default role is participant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81250" y="4429125"/>
            <a:ext cx="5905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9E9E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SAME CONFERENCE, DIFFERENT BADGE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66900" y="1514475"/>
            <a:ext cx="1368031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49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USERS PAGE AND ROLE CHANGE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66900" y="2571750"/>
            <a:ext cx="13335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6E6E6"/>
                </a:solidFill>
                <a:latin typeface="Roboto Bold"/>
                <a:ea typeface="Roboto Bold"/>
                <a:cs typeface="Roboto Bold"/>
                <a:sym typeface="Roboto Bold"/>
              </a:rPr>
              <a:t>Nobody gets a different conference. They get different rights inside one conference.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66900" y="838200"/>
            <a:ext cx="952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E6E6E6"/>
                </a:solidFill>
                <a:latin typeface="Roboto Bold"/>
                <a:ea typeface="Roboto Bold"/>
                <a:cs typeface="Roboto Bold"/>
                <a:sym typeface="Roboto Bold"/>
              </a:rPr>
              <a:t>PART 4 - 9 MIN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4000" y="9334500"/>
            <a:ext cx="15240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CHANGE SOMEONE’S ROLE AND WATCH IT UPDATE. THEN OPEN THE PAGE AS A PARTICIPANT: BLOCKED.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31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2246" y="3277851"/>
            <a:ext cx="48243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92246" y="3568706"/>
            <a:ext cx="482433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33463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92246" y="3859561"/>
            <a:ext cx="482433" cy="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70850" y="4114800"/>
            <a:ext cx="3845909" cy="4095750"/>
            <a:chOff x="0" y="0"/>
            <a:chExt cx="1012914" cy="1078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914" cy="1078716"/>
            </a:xfrm>
            <a:custGeom>
              <a:avLst/>
              <a:gdLst/>
              <a:ahLst/>
              <a:cxnLst/>
              <a:rect r="r" b="b" t="t" l="l"/>
              <a:pathLst>
                <a:path h="1078716" w="1012914">
                  <a:moveTo>
                    <a:pt x="0" y="0"/>
                  </a:moveTo>
                  <a:lnTo>
                    <a:pt x="1012914" y="0"/>
                  </a:lnTo>
                  <a:lnTo>
                    <a:pt x="1012914" y="1078716"/>
                  </a:lnTo>
                  <a:lnTo>
                    <a:pt x="0" y="1078716"/>
                  </a:lnTo>
                  <a:close/>
                </a:path>
              </a:pathLst>
            </a:custGeom>
            <a:solidFill>
              <a:srgbClr val="2F52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2914" cy="1116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9562694" y="0"/>
            <a:ext cx="0" cy="1028700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721534" y="4114800"/>
            <a:ext cx="0" cy="617220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3405648" y="4114800"/>
            <a:ext cx="0" cy="6172200"/>
          </a:xfrm>
          <a:prstGeom prst="line">
            <a:avLst/>
          </a:prstGeom>
          <a:ln cap="flat" w="9525">
            <a:solidFill>
              <a:srgbClr val="2B34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716772" y="4114800"/>
            <a:ext cx="3845909" cy="4095750"/>
            <a:chOff x="0" y="0"/>
            <a:chExt cx="1012914" cy="10787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2914" cy="1078716"/>
            </a:xfrm>
            <a:custGeom>
              <a:avLst/>
              <a:gdLst/>
              <a:ahLst/>
              <a:cxnLst/>
              <a:rect r="r" b="b" t="t" l="l"/>
              <a:pathLst>
                <a:path h="1078716" w="1012914">
                  <a:moveTo>
                    <a:pt x="0" y="0"/>
                  </a:moveTo>
                  <a:lnTo>
                    <a:pt x="1012914" y="0"/>
                  </a:lnTo>
                  <a:lnTo>
                    <a:pt x="1012914" y="1078716"/>
                  </a:lnTo>
                  <a:lnTo>
                    <a:pt x="0" y="1078716"/>
                  </a:lnTo>
                  <a:close/>
                </a:path>
              </a:pathLst>
            </a:custGeom>
            <a:solidFill>
              <a:srgbClr val="2B34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2914" cy="1116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62694" y="4114800"/>
            <a:ext cx="3845909" cy="4095750"/>
            <a:chOff x="0" y="0"/>
            <a:chExt cx="1012914" cy="10787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2914" cy="1078716"/>
            </a:xfrm>
            <a:custGeom>
              <a:avLst/>
              <a:gdLst/>
              <a:ahLst/>
              <a:cxnLst/>
              <a:rect r="r" b="b" t="t" l="l"/>
              <a:pathLst>
                <a:path h="1078716" w="1012914">
                  <a:moveTo>
                    <a:pt x="0" y="0"/>
                  </a:moveTo>
                  <a:lnTo>
                    <a:pt x="1012914" y="0"/>
                  </a:lnTo>
                  <a:lnTo>
                    <a:pt x="1012914" y="1078716"/>
                  </a:lnTo>
                  <a:lnTo>
                    <a:pt x="0" y="1078716"/>
                  </a:lnTo>
                  <a:close/>
                </a:path>
              </a:pathLst>
            </a:custGeom>
            <a:solidFill>
              <a:srgbClr val="2F528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2914" cy="1116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08616" y="4114800"/>
            <a:ext cx="3845909" cy="4095750"/>
            <a:chOff x="0" y="0"/>
            <a:chExt cx="1012914" cy="10787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2914" cy="1078716"/>
            </a:xfrm>
            <a:custGeom>
              <a:avLst/>
              <a:gdLst/>
              <a:ahLst/>
              <a:cxnLst/>
              <a:rect r="r" b="b" t="t" l="l"/>
              <a:pathLst>
                <a:path h="1078716" w="1012914">
                  <a:moveTo>
                    <a:pt x="0" y="0"/>
                  </a:moveTo>
                  <a:lnTo>
                    <a:pt x="1012914" y="0"/>
                  </a:lnTo>
                  <a:lnTo>
                    <a:pt x="1012914" y="1078716"/>
                  </a:lnTo>
                  <a:lnTo>
                    <a:pt x="0" y="1078716"/>
                  </a:lnTo>
                  <a:close/>
                </a:path>
              </a:pathLst>
            </a:custGeom>
            <a:solidFill>
              <a:srgbClr val="2B346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12914" cy="1116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70850" y="4114800"/>
            <a:ext cx="3845909" cy="4095750"/>
            <a:chOff x="0" y="0"/>
            <a:chExt cx="5127879" cy="5461000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2">
              <a:alphaModFix amt="5000"/>
            </a:blip>
            <a:srcRect l="0" t="14501" r="0" b="14501"/>
            <a:stretch>
              <a:fillRect/>
            </a:stretch>
          </p:blipFill>
          <p:spPr>
            <a:xfrm flipH="false" flipV="false">
              <a:off x="0" y="0"/>
              <a:ext cx="5127879" cy="5461000"/>
            </a:xfrm>
            <a:prstGeom prst="rect">
              <a:avLst/>
            </a:prstGeom>
          </p:spPr>
        </p:pic>
      </p:grpSp>
      <p:grpSp>
        <p:nvGrpSpPr>
          <p:cNvPr name="Group 23" id="23"/>
          <p:cNvGrpSpPr/>
          <p:nvPr/>
        </p:nvGrpSpPr>
        <p:grpSpPr>
          <a:xfrm rot="0">
            <a:off x="9567456" y="4114800"/>
            <a:ext cx="3841147" cy="4095750"/>
            <a:chOff x="0" y="0"/>
            <a:chExt cx="5121529" cy="5461000"/>
          </a:xfrm>
        </p:grpSpPr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3">
              <a:alphaModFix amt="5000"/>
            </a:blip>
            <a:srcRect l="18795" t="0" r="18795" b="0"/>
            <a:stretch>
              <a:fillRect/>
            </a:stretch>
          </p:blipFill>
          <p:spPr>
            <a:xfrm flipH="false" flipV="false">
              <a:off x="0" y="0"/>
              <a:ext cx="5121529" cy="5461000"/>
            </a:xfrm>
            <a:prstGeom prst="rect">
              <a:avLst/>
            </a:prstGeom>
          </p:spPr>
        </p:pic>
      </p:grpSp>
      <p:grpSp>
        <p:nvGrpSpPr>
          <p:cNvPr name="Group 25" id="25"/>
          <p:cNvGrpSpPr/>
          <p:nvPr/>
        </p:nvGrpSpPr>
        <p:grpSpPr>
          <a:xfrm rot="0">
            <a:off x="5716772" y="4114800"/>
            <a:ext cx="3845909" cy="4095750"/>
            <a:chOff x="0" y="0"/>
            <a:chExt cx="5127879" cy="5461000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4">
              <a:alphaModFix amt="5000"/>
            </a:blip>
            <a:srcRect l="1798" t="0" r="45304" b="0"/>
            <a:stretch>
              <a:fillRect/>
            </a:stretch>
          </p:blipFill>
          <p:spPr>
            <a:xfrm flipH="false" flipV="false">
              <a:off x="0" y="0"/>
              <a:ext cx="5127879" cy="5461000"/>
            </a:xfrm>
            <a:prstGeom prst="rect">
              <a:avLst/>
            </a:prstGeom>
          </p:spPr>
        </p:pic>
      </p:grpSp>
      <p:grpSp>
        <p:nvGrpSpPr>
          <p:cNvPr name="Group 27" id="27"/>
          <p:cNvGrpSpPr/>
          <p:nvPr/>
        </p:nvGrpSpPr>
        <p:grpSpPr>
          <a:xfrm rot="0">
            <a:off x="13408616" y="4114800"/>
            <a:ext cx="3845909" cy="4095750"/>
            <a:chOff x="0" y="0"/>
            <a:chExt cx="5127879" cy="5461000"/>
          </a:xfrm>
        </p:grpSpPr>
        <p:pic>
          <p:nvPicPr>
            <p:cNvPr name="Picture 28" id="28"/>
            <p:cNvPicPr>
              <a:picLocks noChangeAspect="true"/>
            </p:cNvPicPr>
            <p:nvPr/>
          </p:nvPicPr>
          <p:blipFill>
            <a:blip r:embed="rId5">
              <a:alphaModFix amt="5000"/>
            </a:blip>
            <a:srcRect l="0" t="10112" r="0" b="10112"/>
            <a:stretch>
              <a:fillRect/>
            </a:stretch>
          </p:blipFill>
          <p:spPr>
            <a:xfrm flipH="false" flipV="false">
              <a:off x="0" y="0"/>
              <a:ext cx="5127879" cy="5461000"/>
            </a:xfrm>
            <a:prstGeom prst="rect">
              <a:avLst/>
            </a:prstGeom>
          </p:spPr>
        </p:pic>
      </p:grpSp>
      <p:sp>
        <p:nvSpPr>
          <p:cNvPr name="TextBox 29" id="29"/>
          <p:cNvSpPr txBox="true"/>
          <p:nvPr/>
        </p:nvSpPr>
        <p:spPr>
          <a:xfrm rot="0">
            <a:off x="2373916" y="6629400"/>
            <a:ext cx="283987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On the last evening the badge stops working. You are still the same person, but the doors do not open any more.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19825" y="6629400"/>
            <a:ext cx="283330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Clear the token. Clear the user. Go back to /.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73916" y="5867400"/>
            <a:ext cx="2847594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THE STORY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19825" y="5867400"/>
            <a:ext cx="2842831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WHAT IT DOES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65734" y="6629400"/>
            <a:ext cx="305876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6E6E6"/>
                </a:solidFill>
                <a:latin typeface="Lato"/>
                <a:ea typeface="Lato"/>
                <a:cs typeface="Lato"/>
                <a:sym typeface="Lato"/>
              </a:rPr>
              <a:t>It is already inside the auth context.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65734" y="5867400"/>
            <a:ext cx="253650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6E6E6"/>
                </a:solidFill>
                <a:latin typeface="Lato Bold"/>
                <a:ea typeface="Lato Bold"/>
                <a:cs typeface="Lato Bold"/>
                <a:sym typeface="Lato Bold"/>
              </a:rPr>
              <a:t>WHERE IT LIVES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11644" y="6629400"/>
            <a:ext cx="314629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E9E9EA"/>
                </a:solidFill>
                <a:latin typeface="Lato"/>
                <a:ea typeface="Lato"/>
                <a:cs typeface="Lato"/>
                <a:sym typeface="Lato"/>
              </a:rPr>
              <a:t>Click logout. Try the dashboard again. Blocked.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11644" y="5867400"/>
            <a:ext cx="2839879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>
                <a:solidFill>
                  <a:srgbClr val="E9E9EA"/>
                </a:solidFill>
                <a:latin typeface="Lato Bold"/>
                <a:ea typeface="Lato Bold"/>
                <a:cs typeface="Lato Bold"/>
                <a:sym typeface="Lato Bold"/>
              </a:rPr>
              <a:t>THE TEST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70850" y="1414912"/>
            <a:ext cx="749029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LOGOUT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65724" y="1968041"/>
            <a:ext cx="747425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throw the badge away, not the person.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24000" y="8753475"/>
            <a:ext cx="1524000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5"/>
              </a:lnSpc>
              <a:spcBef>
                <a:spcPct val="0"/>
              </a:spcBef>
            </a:pPr>
            <a:r>
              <a:rPr lang="en-US" sz="2175">
                <a:solidFill>
                  <a:srgbClr val="E9E9EA"/>
                </a:solidFill>
                <a:latin typeface="Arimo"/>
                <a:ea typeface="Arimo"/>
                <a:cs typeface="Arimo"/>
                <a:sym typeface="Arimo"/>
              </a:rPr>
              <a:t>Click logout, then try the dashboard again. Blocked. End the hour there.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4000" y="9324975"/>
            <a:ext cx="1524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>
                <a:solidFill>
                  <a:srgbClr val="E9E9EA"/>
                </a:solidFill>
                <a:latin typeface="Arimo Bold"/>
                <a:ea typeface="Arimo Bold"/>
                <a:cs typeface="Arimo Bold"/>
                <a:sym typeface="Arimo Bold"/>
              </a:rPr>
              <a:t>THE BADGE STOPS WORKING.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66900" y="809625"/>
            <a:ext cx="85725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>
                <a:solidFill>
                  <a:srgbClr val="EDEEF7"/>
                </a:solidFill>
                <a:latin typeface="Arimo Bold"/>
                <a:ea typeface="Arimo Bold"/>
                <a:cs typeface="Arimo Bold"/>
                <a:sym typeface="Arimo Bold"/>
              </a:rPr>
              <a:t>PART 5 - 3 MIN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5568" y="2816257"/>
            <a:ext cx="771525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49386" y="8667750"/>
            <a:ext cx="47625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E9E9EA"/>
                </a:solidFill>
                <a:latin typeface="Arimo"/>
                <a:ea typeface="Arimo"/>
                <a:cs typeface="Arimo"/>
                <a:sym typeface="Arimo"/>
              </a:rPr>
              <a:t>SUMAYA - SomNOG9 - DAY 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0"/>
            <a:ext cx="9525" cy="10287000"/>
            <a:chOff x="0" y="0"/>
            <a:chExt cx="127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29875" y="0"/>
            <a:ext cx="9525" cy="10287000"/>
            <a:chOff x="0" y="0"/>
            <a:chExt cx="127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7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29875" y="3562350"/>
            <a:ext cx="7858125" cy="9525"/>
            <a:chOff x="0" y="0"/>
            <a:chExt cx="10477500" cy="12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7500" cy="12700"/>
            </a:xfrm>
            <a:custGeom>
              <a:avLst/>
              <a:gdLst/>
              <a:ahLst/>
              <a:cxnLst/>
              <a:rect r="r" b="b" t="t" l="l"/>
              <a:pathLst>
                <a:path h="12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775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9875" y="6715125"/>
            <a:ext cx="7858125" cy="9525"/>
            <a:chOff x="0" y="0"/>
            <a:chExt cx="10477500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7500" cy="12700"/>
            </a:xfrm>
            <a:custGeom>
              <a:avLst/>
              <a:gdLst/>
              <a:ahLst/>
              <a:cxnLst/>
              <a:rect r="r" b="b" t="t" l="l"/>
              <a:pathLst>
                <a:path h="12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775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0575" y="3276600"/>
            <a:ext cx="485775" cy="9525"/>
            <a:chOff x="0" y="0"/>
            <a:chExt cx="6477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0575" y="3562350"/>
            <a:ext cx="485775" cy="9525"/>
            <a:chOff x="0" y="0"/>
            <a:chExt cx="6477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0575" y="3857625"/>
            <a:ext cx="485775" cy="9525"/>
            <a:chOff x="0" y="0"/>
            <a:chExt cx="6477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91750" y="8667750"/>
            <a:ext cx="485775" cy="9525"/>
            <a:chOff x="0" y="0"/>
            <a:chExt cx="6477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91750" y="8963025"/>
            <a:ext cx="485775" cy="9525"/>
            <a:chOff x="0" y="0"/>
            <a:chExt cx="647700" cy="12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91750" y="9248775"/>
            <a:ext cx="485775" cy="9525"/>
            <a:chOff x="0" y="0"/>
            <a:chExt cx="647700" cy="12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7700" cy="12700"/>
            </a:xfrm>
            <a:custGeom>
              <a:avLst/>
              <a:gdLst/>
              <a:ahLst/>
              <a:cxnLst/>
              <a:rect r="r" b="b" t="t" l="l"/>
              <a:pathLst>
                <a:path h="12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9E9E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477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875568" y="6720078"/>
            <a:ext cx="7715250" cy="3566922"/>
          </a:xfrm>
          <a:custGeom>
            <a:avLst/>
            <a:gdLst/>
            <a:ahLst/>
            <a:cxnLst/>
            <a:rect r="r" b="b" t="t" l="l"/>
            <a:pathLst>
              <a:path h="3566922" w="7715250">
                <a:moveTo>
                  <a:pt x="0" y="0"/>
                </a:moveTo>
                <a:lnTo>
                  <a:pt x="7715250" y="0"/>
                </a:lnTo>
                <a:lnTo>
                  <a:pt x="7715250" y="3566922"/>
                </a:lnTo>
                <a:lnTo>
                  <a:pt x="0" y="356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-732" r="0" b="-73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DAGrV7YIO04</dc:identifier>
  <dcterms:modified xsi:type="dcterms:W3CDTF">2011-08-01T06:04:30Z</dcterms:modified>
  <cp:revision>1</cp:revision>
  <dc:title>Authentication Service (Frontend) — SomNOG9 Day 2</dc:title>
</cp:coreProperties>
</file>