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a7642ab4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ba7642a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a7642ab4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ba7642ab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a7642ab4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ba7642ab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ba7642ab4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ba7642ab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a7642ab4_0_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ba7642ab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ba7642ab4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ba7642ab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ba7642ab4_0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ba7642ab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a7642ab4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ba7642ab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903425" y="2204900"/>
            <a:ext cx="58503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 to the Software Development Track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156075" y="3253550"/>
            <a:ext cx="33660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Mohamed A. Abdisamad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050" y="272925"/>
            <a:ext cx="3174649" cy="14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4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93" name="Google Shape;93;p14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</a:rPr>
                <a:t>Congratulations!!</a:t>
              </a:r>
              <a:r>
                <a:rPr lang="en" sz="1100"/>
                <a:t>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4" name="Google Shape;94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4"/>
          <p:cNvSpPr txBox="1"/>
          <p:nvPr/>
        </p:nvSpPr>
        <p:spPr>
          <a:xfrm>
            <a:off x="335900" y="1179675"/>
            <a:ext cx="85794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Congratulations on being chosen from a large pool of applicants.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Over the upcoming sessions, we’ll dive into building, deploying, and scaling modern web applications.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We’re excited to have you here—</a:t>
            </a:r>
            <a:r>
              <a:rPr b="1" lang="en" sz="2400"/>
              <a:t>let’s get started!</a:t>
            </a:r>
            <a:endParaRPr b="1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5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101" name="Google Shape;101;p15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" name="Google Shape;102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5"/>
          <p:cNvSpPr txBox="1"/>
          <p:nvPr>
            <p:ph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 Facilitators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72925" y="1175650"/>
            <a:ext cx="87057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Quattrocento Sans"/>
              <a:buChar char="-"/>
            </a:pPr>
            <a:r>
              <a:rPr lang="en" sz="1900"/>
              <a:t>Mohamed A. Abdisamad, Director, Information Systems, NIRA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Quattrocento Sans"/>
              <a:buChar char="-"/>
            </a:pPr>
            <a:r>
              <a:rPr lang="en" sz="1900"/>
              <a:t>Mohamed Abdirahman Ahmed, Software Engineer, Tabaarak ICT Solutions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Quattrocento Sans"/>
              <a:buChar char="-"/>
            </a:pPr>
            <a:r>
              <a:rPr lang="en" sz="1900"/>
              <a:t>Hassan Omar Mohamed, Software Engineer, SIU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Quattrocento Sans"/>
              <a:buChar char="-"/>
            </a:pPr>
            <a:r>
              <a:rPr lang="en" sz="1900"/>
              <a:t>Bashir Ahmed, Director Government Services, Tabarak ICT Solutions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Abdullahi Ali Tahlil, Software Engineer, BECO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Sumaya Sugal, Software Engineer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Quattrocento Sans"/>
              <a:buChar char="-"/>
            </a:pPr>
            <a:r>
              <a:rPr lang="en" sz="1900"/>
              <a:t>Abubakar Ali, Software Engineer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110" name="Google Shape;110;p16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1" name="Google Shape;111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6"/>
          <p:cNvSpPr txBox="1"/>
          <p:nvPr>
            <p:ph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72925" y="1175650"/>
            <a:ext cx="8705700" cy="3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Software  Development track is a </a:t>
            </a:r>
            <a:r>
              <a:rPr b="1" lang="en" sz="1700"/>
              <a:t>3-day intensive</a:t>
            </a:r>
            <a:r>
              <a:rPr lang="en" sz="1700"/>
              <a:t>, </a:t>
            </a:r>
            <a:r>
              <a:rPr b="1" lang="en" sz="1700"/>
              <a:t>hands-on</a:t>
            </a:r>
            <a:r>
              <a:rPr lang="en" sz="1700"/>
              <a:t> workshop designed for junior developers with foundational experience in TypeScript and Next.js. Participants will learn to </a:t>
            </a:r>
            <a:r>
              <a:rPr b="1" lang="en" sz="1700"/>
              <a:t>design</a:t>
            </a:r>
            <a:r>
              <a:rPr lang="en" sz="1700"/>
              <a:t>, </a:t>
            </a:r>
            <a:r>
              <a:rPr b="1" lang="en" sz="1700"/>
              <a:t>build</a:t>
            </a:r>
            <a:r>
              <a:rPr lang="en" sz="1700"/>
              <a:t>, </a:t>
            </a:r>
            <a:r>
              <a:rPr b="1" lang="en" sz="1700"/>
              <a:t>test</a:t>
            </a:r>
            <a:r>
              <a:rPr lang="en" sz="1700"/>
              <a:t>, and </a:t>
            </a:r>
            <a:r>
              <a:rPr b="1" lang="en" sz="1700"/>
              <a:t>deploy</a:t>
            </a:r>
            <a:r>
              <a:rPr lang="en" sz="1700"/>
              <a:t> a </a:t>
            </a:r>
            <a:r>
              <a:rPr b="1" lang="en" sz="1700"/>
              <a:t>real-world</a:t>
            </a:r>
            <a:r>
              <a:rPr lang="en" sz="1700"/>
              <a:t> distributed Event Management System for the SomNOG community, modelled on how events like SomNOG workshops and conferences are organized, registered, and managed.</a:t>
            </a:r>
            <a:endParaRPr sz="1700"/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700"/>
              <a:t>The system handles the full event lifecycle: event creation, participant application via forms, application review by organizers (accepted or rejected), automated email notifications, facilitator management, sponsor onboarding, and track/session scheduling. The platform supports multiple user roles (Participants, Organizers, Facilitators, and Admins) each with their own access level and interface.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7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119" name="Google Shape;119;p17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0" name="Google Shape;12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17"/>
          <p:cNvSpPr txBox="1"/>
          <p:nvPr>
            <p:ph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(Continue)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72925" y="1175650"/>
            <a:ext cx="8705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Lecturers will live-build three production-grade microservices (the Authentication Service, the Notification Service, and the Event Registration Service) demonstrating full backend (</a:t>
            </a:r>
            <a:r>
              <a:rPr b="1" lang="en" sz="1800"/>
              <a:t>NestJS</a:t>
            </a:r>
            <a:r>
              <a:rPr lang="en" sz="1800"/>
              <a:t> + </a:t>
            </a:r>
            <a:r>
              <a:rPr b="1" lang="en" sz="1800"/>
              <a:t>PostgreSQL</a:t>
            </a:r>
            <a:r>
              <a:rPr lang="en" sz="1800"/>
              <a:t>/Prisma) and frontend (</a:t>
            </a:r>
            <a:r>
              <a:rPr b="1" lang="en" sz="1800"/>
              <a:t>Next.js</a:t>
            </a:r>
            <a:r>
              <a:rPr lang="en" sz="1800"/>
              <a:t>) implementations. Participant groups will independently build supporting services following the same patterns and architecture, with one dedicated group responsible for integrating all services and building the unified frontend.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8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128" name="Google Shape;128;p18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9" name="Google Shape;12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72925" y="958713"/>
            <a:ext cx="8705700" cy="3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By the end of this track, participants will have:</a:t>
            </a:r>
            <a:endParaRPr b="1" sz="1500"/>
          </a:p>
          <a:p>
            <a:pPr indent="-3238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Understood the principles, trade-offs, and design patterns of microservices architecture compared to monolithic systems.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Built production-quality NestJS backend services with PostgreSQL database access via Prisma ORM.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Implemented JWT-based authentication with role-based access control across services.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Designed and implemented a notification system that delivers dynamic, personalized emails triggered by application events.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Built a complete event registration and organizer review workflow with a state machine for application status.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Created Next.js frontend applications that securely consume microservice REST APIs.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Written unit tests, integration tests, and load tests for each service module.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Containerized all services using Docker and Docker Compose.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Set up a basic CI/CD pipeline for automated testing and deployment.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919150" y="21938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Scan for full Workshop Schedule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25" y="999325"/>
            <a:ext cx="32766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0"/>
          <p:cNvGrpSpPr/>
          <p:nvPr/>
        </p:nvGrpSpPr>
        <p:grpSpPr>
          <a:xfrm>
            <a:off x="0" y="-1026"/>
            <a:ext cx="9152016" cy="984760"/>
            <a:chOff x="8007" y="7990"/>
            <a:chExt cx="9152016" cy="984760"/>
          </a:xfrm>
        </p:grpSpPr>
        <p:sp>
          <p:nvSpPr>
            <p:cNvPr id="143" name="Google Shape;143;p20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4" name="Google Shape;14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20"/>
          <p:cNvSpPr txBox="1"/>
          <p:nvPr>
            <p:ph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Teaching Style &amp; </a:t>
            </a:r>
            <a:r>
              <a:rPr b="1" lang="en" sz="3600">
                <a:latin typeface="Arial"/>
                <a:ea typeface="Arial"/>
                <a:cs typeface="Arial"/>
                <a:sym typeface="Arial"/>
              </a:rPr>
              <a:t>Ground Rules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272925" y="958713"/>
            <a:ext cx="87057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Theory first, then a hands-on practical session. Every concept we explain is immediately built live, and you build it alongside us.</a:t>
            </a:r>
            <a:endParaRPr b="1" sz="1500"/>
          </a:p>
          <a:p>
            <a:pPr indent="-3238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You'll be organized into groups (</a:t>
            </a:r>
            <a:r>
              <a:rPr b="1" lang="en" sz="1500"/>
              <a:t>SDG1–SDG8</a:t>
            </a:r>
            <a:r>
              <a:rPr lang="en" sz="1500"/>
              <a:t>), and each group owns a specific service (Auth, Event Catalog, Registration, Notifications, Workshop &amp; Participant Registration).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Each group works from a shared </a:t>
            </a:r>
            <a:r>
              <a:rPr b="1" lang="en" sz="1500"/>
              <a:t>GitHub repository branch</a:t>
            </a:r>
            <a:r>
              <a:rPr lang="en" sz="1500"/>
              <a:t>, building on their own laptop with Node.js, PostgreSQL, Docker, and VS Code installed.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Instructors demo the build live. </a:t>
            </a:r>
            <a:r>
              <a:rPr b="1" lang="en" sz="1500"/>
              <a:t>Follow along by coding, not by watching</a:t>
            </a:r>
            <a:r>
              <a:rPr lang="en" sz="1500"/>
              <a:t>. Group work sessions are where you apply it to your own service.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Feel free to ask questions anytime.</a:t>
            </a:r>
            <a:endParaRPr b="1"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If you need help during the session, </a:t>
            </a:r>
            <a:r>
              <a:rPr b="1" lang="en" sz="1500"/>
              <a:t>raise your hand</a:t>
            </a:r>
            <a:r>
              <a:rPr lang="en" sz="1500"/>
              <a:t> so the instructors can assist.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Kindly mute your phones during classes.</a:t>
            </a:r>
            <a:endParaRPr b="1"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Come back </a:t>
            </a:r>
            <a:r>
              <a:rPr b="1" lang="en" sz="1500"/>
              <a:t>on time </a:t>
            </a:r>
            <a:r>
              <a:rPr lang="en" sz="1500"/>
              <a:t>after tea, prayer, and lunch breaks, sessions resume promptly.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Each day closes with a short </a:t>
            </a:r>
            <a:r>
              <a:rPr b="1" lang="en" sz="1500"/>
              <a:t>recap quiz</a:t>
            </a:r>
            <a:r>
              <a:rPr lang="en" sz="1500"/>
              <a:t> covering what we built that day.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Each group will have  a Virtual Machine running on Ubuntu  that you will access from your laptop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grpSp>
        <p:nvGrpSpPr>
          <p:cNvPr id="152" name="Google Shape;152;p21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53" name="Google Shape;153;p21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54" name="Google Shape;154;p21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2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60" name="Google Shape;160;p22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61" name="Google Shape;161;p22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22"/>
          <p:cNvSpPr txBox="1"/>
          <p:nvPr/>
        </p:nvSpPr>
        <p:spPr>
          <a:xfrm>
            <a:off x="293925" y="1098675"/>
            <a:ext cx="75369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Use your own laptops for: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Web browsing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 exercises</a:t>
            </a:r>
            <a:br>
              <a:rPr lang="en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Wireless Internet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SSID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Track3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password is ”</a:t>
            </a:r>
            <a:r>
              <a:rPr b="1" lang="en" sz="1800"/>
              <a:t>SomNOG</a:t>
            </a:r>
            <a:r>
              <a:rPr b="1" lang="en" sz="1800"/>
              <a:t>Success</a:t>
            </a:r>
            <a:r>
              <a:rPr lang="en" sz="1800"/>
              <a:t>”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Refreshments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Room10</a:t>
            </a:r>
            <a:endParaRPr sz="1800"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50" y="52975"/>
            <a:ext cx="6235200" cy="7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3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69" name="Google Shape;169;p23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70" name="Google Shape;170;p23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23"/>
          <p:cNvSpPr txBox="1"/>
          <p:nvPr/>
        </p:nvSpPr>
        <p:spPr>
          <a:xfrm>
            <a:off x="293925" y="1098675"/>
            <a:ext cx="7536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All resources </a:t>
            </a:r>
            <a:r>
              <a:rPr b="1" lang="en" sz="1800"/>
              <a:t>slides</a:t>
            </a:r>
            <a:r>
              <a:rPr lang="en" sz="1800"/>
              <a:t>, </a:t>
            </a:r>
            <a:r>
              <a:rPr b="1" lang="en" sz="1800"/>
              <a:t>guides</a:t>
            </a:r>
            <a:r>
              <a:rPr lang="en" sz="1800"/>
              <a:t>, and </a:t>
            </a:r>
            <a:r>
              <a:rPr b="1" lang="en" sz="1800"/>
              <a:t>examples</a:t>
            </a:r>
            <a:r>
              <a:rPr lang="en" sz="1800"/>
              <a:t>, will be at </a:t>
            </a:r>
            <a:r>
              <a:rPr b="1" lang="en" sz="1800"/>
              <a:t>sd.somnog.so</a:t>
            </a:r>
            <a:r>
              <a:rPr lang="en" sz="1800"/>
              <a:t> (please check after 4 p.m. today).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The source code is available on GitHub at </a:t>
            </a:r>
            <a:r>
              <a:rPr b="1" lang="en" sz="1800"/>
              <a:t>github.com/somnog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72" name="Google Shape;172;p23"/>
          <p:cNvSpPr txBox="1"/>
          <p:nvPr>
            <p:ph idx="4294967295"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4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78" name="Google Shape;178;p24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79" name="Google Shape;179;p24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4"/>
          <p:cNvSpPr txBox="1"/>
          <p:nvPr>
            <p:ph idx="4294967295"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293925" y="1098675"/>
            <a:ext cx="7536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be careful in class: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Trip on power cords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Pull cables out of sockets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Knock equipment off tables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Fall from leaning back too far in your chair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-"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Our facilitators are here to share their professional experiences, taking time out of their busy schedules to do so.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-"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Please show your appreciation and respect by arriving </a:t>
            </a:r>
            <a:r>
              <a:rPr b="1" lang="en" sz="2500">
                <a:latin typeface="Arial"/>
                <a:ea typeface="Arial"/>
                <a:cs typeface="Arial"/>
                <a:sym typeface="Arial"/>
              </a:rPr>
              <a:t>on time</a:t>
            </a:r>
            <a:r>
              <a:rPr lang="en" sz="2500">
                <a:latin typeface="Arial"/>
                <a:ea typeface="Arial"/>
                <a:cs typeface="Arial"/>
                <a:sym typeface="Arial"/>
              </a:rPr>
              <a:t>, keeping quiet during presentations, and engaging actively in discussions.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Arial"/>
                <a:ea typeface="Arial"/>
                <a:cs typeface="Arial"/>
                <a:sym typeface="Arial"/>
              </a:rPr>
              <a:t> </a:t>
            </a:r>
            <a:endParaRPr sz="3500"/>
          </a:p>
        </p:txBody>
      </p:sp>
      <p:grpSp>
        <p:nvGrpSpPr>
          <p:cNvPr id="187" name="Google Shape;187;p25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88" name="Google Shape;188;p25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89" name="Google Shape;189;p25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6"/>
          <p:cNvGrpSpPr/>
          <p:nvPr/>
        </p:nvGrpSpPr>
        <p:grpSpPr>
          <a:xfrm>
            <a:off x="0" y="-1025"/>
            <a:ext cx="9152026" cy="903789"/>
            <a:chOff x="8007" y="7990"/>
            <a:chExt cx="9152026" cy="880800"/>
          </a:xfrm>
        </p:grpSpPr>
        <p:sp>
          <p:nvSpPr>
            <p:cNvPr id="195" name="Google Shape;195;p26"/>
            <p:cNvSpPr/>
            <p:nvPr/>
          </p:nvSpPr>
          <p:spPr>
            <a:xfrm>
              <a:off x="8007" y="7990"/>
              <a:ext cx="9144000" cy="8808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0">
                  <a:schemeClr val="dk1"/>
                </a:gs>
                <a:gs pos="0">
                  <a:srgbClr val="959CC8"/>
                </a:gs>
                <a:gs pos="0">
                  <a:srgbClr val="FFFFFF"/>
                </a:gs>
                <a:gs pos="23000">
                  <a:schemeClr val="lt1"/>
                </a:gs>
                <a:gs pos="43000">
                  <a:srgbClr val="B7CEF3"/>
                </a:gs>
                <a:gs pos="81000">
                  <a:srgbClr val="2A3990"/>
                </a:gs>
                <a:gs pos="88000">
                  <a:schemeClr val="dk1"/>
                </a:gs>
                <a:gs pos="94000">
                  <a:schemeClr val="dk1"/>
                </a:gs>
                <a:gs pos="100000">
                  <a:schemeClr val="dk1"/>
                </a:gs>
              </a:gsLst>
              <a:lin ang="10800025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96" name="Google Shape;196;p26"/>
            <p:cNvPicPr preferRelativeResize="0"/>
            <p:nvPr/>
          </p:nvPicPr>
          <p:blipFill rotWithShape="1">
            <a:blip r:embed="rId3">
              <a:alphaModFix/>
            </a:blip>
            <a:srcRect b="13412" l="0" r="0" t="0"/>
            <a:stretch/>
          </p:blipFill>
          <p:spPr>
            <a:xfrm>
              <a:off x="7102532" y="24041"/>
              <a:ext cx="2057501" cy="83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26"/>
          <p:cNvSpPr txBox="1"/>
          <p:nvPr>
            <p:ph idx="4294967295" type="title"/>
          </p:nvPr>
        </p:nvSpPr>
        <p:spPr>
          <a:xfrm>
            <a:off x="315713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about you….?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293925" y="1098675"/>
            <a:ext cx="75369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Introduce yourself: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Name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Which field best describes your work: Frontend, Backend, Full-stack, or DevOps?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many languages do you speak?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What’s your favorite language?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your expectations for this track?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7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04" name="Google Shape;204;p27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7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7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27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27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27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27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27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27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27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14" name="Google Shape;214;p27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27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16" name="Google Shape;216;p27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17" name="Google Shape;217;p27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7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27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27" name="Google Shape;227;p27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28" name="Google Shape;228;p27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27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4590650" y="0"/>
            <a:ext cx="4553400" cy="5220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00" y="1782675"/>
            <a:ext cx="3174649" cy="14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>
            <p:ph type="title"/>
          </p:nvPr>
        </p:nvSpPr>
        <p:spPr>
          <a:xfrm>
            <a:off x="4719875" y="13244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